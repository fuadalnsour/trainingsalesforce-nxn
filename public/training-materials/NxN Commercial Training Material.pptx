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3" r:id="rId6"/>
    <p:sldId id="265" r:id="rId7"/>
    <p:sldId id="260" r:id="rId8"/>
    <p:sldId id="266" r:id="rId9"/>
    <p:sldId id="261" r:id="rId10"/>
    <p:sldId id="267" r:id="rId11"/>
    <p:sldId id="262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1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7947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98C87-FD84-DBFB-D671-96A10F7FF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F2A99A-14B1-57AC-E06F-A805935771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2A44E4-16B9-6438-1F77-1E126FD183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F9811-E1F1-59BD-2404-7715CA781C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882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F38DA7-76EB-BA66-7E4B-6461EF13D6D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5905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E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Restricted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2.png"/><Relationship Id="rId5" Type="http://schemas.openxmlformats.org/officeDocument/2006/relationships/image" Target="../media/image2.jpeg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slideLayout" Target="../slideLayouts/slideLayout1.xml"/><Relationship Id="rId1" Type="http://schemas.openxmlformats.org/officeDocument/2006/relationships/video" Target="https://empost-my.sharepoint.com/:v:/r/personal/fuad_alnsour_7x_ae/Documents/Salesforce/NxN/Salesforce%20Steps/Lead.mp4?csf=1&amp;web=1&amp;e=d8ANoV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13" Type="http://schemas.openxmlformats.org/officeDocument/2006/relationships/image" Target="../media/image33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1.png"/><Relationship Id="rId5" Type="http://schemas.openxmlformats.org/officeDocument/2006/relationships/image" Target="../media/image27.png"/><Relationship Id="rId10" Type="http://schemas.openxmlformats.org/officeDocument/2006/relationships/image" Target="../media/image30.png"/><Relationship Id="rId4" Type="http://schemas.openxmlformats.org/officeDocument/2006/relationships/image" Target="../media/image26.png"/><Relationship Id="rId9" Type="http://schemas.openxmlformats.org/officeDocument/2006/relationships/image" Target="../media/image3.png"/><Relationship Id="rId1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slideLayout" Target="../slideLayouts/slideLayout1.xml"/><Relationship Id="rId1" Type="http://schemas.openxmlformats.org/officeDocument/2006/relationships/video" Target="https://empost-my.sharepoint.com/:v:/g/personal/fuad_alnsour_7x_ae/IQDqx0SdwrurSZA1N2Z_JO_nAQhO_HNFM4thEaM-RrUlWEI?e=4PShr4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slideLayout" Target="../slideLayouts/slideLayout1.xml"/><Relationship Id="rId1" Type="http://schemas.openxmlformats.org/officeDocument/2006/relationships/video" Target="https://empost-my.sharepoint.com/:v:/g/personal/fuad_alnsour_7x_ae/IQBGJs--GwYEQrf4qlRX_47zAWPh3efM1y2Jnnz_J-a1DO0?e=D9qdVb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476402"/>
            <a:ext cx="857707" cy="428854"/>
          </a:xfrm>
          <a:prstGeom prst="roundRect">
            <a:avLst>
              <a:gd name="adj" fmla="val 5685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71500" y="1809598"/>
            <a:ext cx="1657807" cy="362102"/>
          </a:xfrm>
          <a:prstGeom prst="roundRect">
            <a:avLst>
              <a:gd name="adj" fmla="val 225944"/>
            </a:avLst>
          </a:prstGeom>
          <a:solidFill>
            <a:srgbClr val="2ECC71">
              <a:alpha val="10000"/>
            </a:srgbClr>
          </a:solidFill>
          <a:ln w="12700">
            <a:solidFill>
              <a:srgbClr val="2ECC7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71500" y="5715000"/>
            <a:ext cx="11048695" cy="59070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17361" b="17361"/>
          <a:stretch/>
        </p:blipFill>
        <p:spPr>
          <a:xfrm>
            <a:off x="666598" y="543154"/>
            <a:ext cx="666598" cy="295351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893" r="893"/>
          <a:stretch/>
        </p:blipFill>
        <p:spPr>
          <a:xfrm>
            <a:off x="10287000" y="476402"/>
            <a:ext cx="1333195" cy="42885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99186" y="1904695"/>
            <a:ext cx="157276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2ECC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Training Overview </a:t>
            </a:r>
            <a:endParaRPr lang="en-US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l="-4074" r="-4074"/>
          <a:stretch/>
        </p:blipFill>
        <p:spPr>
          <a:xfrm>
            <a:off x="608990" y="1919326"/>
            <a:ext cx="133502" cy="12344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571500" y="2381098"/>
            <a:ext cx="9697212" cy="141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NxN Salesforce Commercial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Training </a:t>
            </a:r>
            <a:endParaRPr lang="en-US" sz="4800" dirty="0"/>
          </a:p>
        </p:txBody>
      </p:sp>
      <p:sp>
        <p:nvSpPr>
          <p:cNvPr id="13" name="Text 7"/>
          <p:cNvSpPr txBox="1"/>
          <p:nvPr/>
        </p:nvSpPr>
        <p:spPr>
          <a:xfrm>
            <a:off x="571500" y="3905402"/>
            <a:ext cx="818205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From lead intake to active customer management —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connected commercial journey. </a:t>
            </a:r>
            <a:endParaRPr lang="en-US" sz="1800" dirty="0"/>
          </a:p>
        </p:txBody>
      </p:sp>
      <p:sp>
        <p:nvSpPr>
          <p:cNvPr id="14" name="Shape 8"/>
          <p:cNvSpPr/>
          <p:nvPr/>
        </p:nvSpPr>
        <p:spPr>
          <a:xfrm>
            <a:off x="761695" y="5962802"/>
            <a:ext cx="75895" cy="75895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9"/>
          <p:cNvSpPr txBox="1"/>
          <p:nvPr/>
        </p:nvSpPr>
        <p:spPr>
          <a:xfrm>
            <a:off x="914400" y="5919826"/>
            <a:ext cx="3913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1591056" y="5943600"/>
            <a:ext cx="105156" cy="11430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2060143" y="5962802"/>
            <a:ext cx="75895" cy="75895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1"/>
          <p:cNvSpPr txBox="1"/>
          <p:nvPr/>
        </p:nvSpPr>
        <p:spPr>
          <a:xfrm>
            <a:off x="2211934" y="5919826"/>
            <a:ext cx="11622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Qualification</a:t>
            </a:r>
            <a:endParaRPr lang="en-US" sz="10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3379622" y="5943600"/>
            <a:ext cx="105156" cy="1143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3847795" y="5962802"/>
            <a:ext cx="75895" cy="75895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3"/>
          <p:cNvSpPr txBox="1"/>
          <p:nvPr/>
        </p:nvSpPr>
        <p:spPr>
          <a:xfrm>
            <a:off x="4000500" y="5919826"/>
            <a:ext cx="91074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</a:t>
            </a:r>
            <a:endParaRPr lang="en-US" sz="10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5091379" y="5943600"/>
            <a:ext cx="105156" cy="114300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5559552" y="5962802"/>
            <a:ext cx="75895" cy="75895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5"/>
          <p:cNvSpPr txBox="1"/>
          <p:nvPr/>
        </p:nvSpPr>
        <p:spPr>
          <a:xfrm>
            <a:off x="5712257" y="5919826"/>
            <a:ext cx="99669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Opportunity</a:t>
            </a:r>
            <a:endParaRPr lang="en-US" sz="10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6841541" y="5943600"/>
            <a:ext cx="105156" cy="11430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7309714" y="5962802"/>
            <a:ext cx="75895" cy="75895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7"/>
          <p:cNvSpPr txBox="1"/>
          <p:nvPr/>
        </p:nvSpPr>
        <p:spPr>
          <a:xfrm>
            <a:off x="7461504" y="5919826"/>
            <a:ext cx="4672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Quote</a:t>
            </a:r>
            <a:endParaRPr lang="en-US" sz="10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8211312" y="5943600"/>
            <a:ext cx="105156" cy="114300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8679485" y="5962802"/>
            <a:ext cx="75895" cy="75895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19"/>
          <p:cNvSpPr txBox="1"/>
          <p:nvPr/>
        </p:nvSpPr>
        <p:spPr>
          <a:xfrm>
            <a:off x="8832190" y="5919826"/>
            <a:ext cx="72511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</a:t>
            </a:r>
            <a:endParaRPr lang="en-US" sz="100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9749333" y="5943600"/>
            <a:ext cx="105156" cy="114300"/>
          </a:xfrm>
          <a:prstGeom prst="rect">
            <a:avLst/>
          </a:prstGeom>
        </p:spPr>
      </p:pic>
      <p:sp>
        <p:nvSpPr>
          <p:cNvPr id="32" name="Shape 20"/>
          <p:cNvSpPr/>
          <p:nvPr/>
        </p:nvSpPr>
        <p:spPr>
          <a:xfrm>
            <a:off x="10217506" y="5962802"/>
            <a:ext cx="75895" cy="75895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1"/>
          <p:cNvSpPr txBox="1"/>
          <p:nvPr/>
        </p:nvSpPr>
        <p:spPr>
          <a:xfrm>
            <a:off x="10369296" y="5919826"/>
            <a:ext cx="136062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Customer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3333902"/>
            <a:ext cx="4238244" cy="780898"/>
          </a:xfrm>
          <a:prstGeom prst="roundRect">
            <a:avLst>
              <a:gd name="adj" fmla="val 22848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1143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71500" y="3333902"/>
            <a:ext cx="38405" cy="780898"/>
          </a:xfrm>
          <a:prstGeom prst="roundRect">
            <a:avLst>
              <a:gd name="adj" fmla="val 464574"/>
            </a:avLst>
          </a:prstGeom>
          <a:solidFill>
            <a:srgbClr val="2ECC71"/>
          </a:solidFill>
          <a:ln w="12700">
            <a:solidFill>
              <a:srgbClr val="2ECC7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71500" y="4286707"/>
            <a:ext cx="4238244" cy="780898"/>
          </a:xfrm>
          <a:prstGeom prst="roundRect">
            <a:avLst>
              <a:gd name="adj" fmla="val 22848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1143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71500" y="4286707"/>
            <a:ext cx="38405" cy="780898"/>
          </a:xfrm>
          <a:prstGeom prst="roundRect">
            <a:avLst>
              <a:gd name="adj" fmla="val 464574"/>
            </a:avLst>
          </a:prstGeom>
          <a:solidFill>
            <a:srgbClr val="2ECC71"/>
          </a:solidFill>
          <a:ln w="12700">
            <a:solidFill>
              <a:srgbClr val="2ECC7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71500" y="5238598"/>
            <a:ext cx="4238244" cy="780898"/>
          </a:xfrm>
          <a:prstGeom prst="roundRect">
            <a:avLst>
              <a:gd name="adj" fmla="val 22848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1143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71500" y="5238598"/>
            <a:ext cx="38405" cy="780898"/>
          </a:xfrm>
          <a:prstGeom prst="roundRect">
            <a:avLst>
              <a:gd name="adj" fmla="val 464574"/>
            </a:avLst>
          </a:prstGeom>
          <a:solidFill>
            <a:srgbClr val="2ECC71"/>
          </a:solidFill>
          <a:ln w="12700">
            <a:solidFill>
              <a:srgbClr val="2ECC7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5333695" y="1238098"/>
            <a:ext cx="6305702" cy="4781398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t="6980" b="6980"/>
          <a:stretch/>
        </p:blipFill>
        <p:spPr>
          <a:xfrm>
            <a:off x="571500" y="381305"/>
            <a:ext cx="571500" cy="333756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 l="4905" r="4905"/>
          <a:stretch/>
        </p:blipFill>
        <p:spPr>
          <a:xfrm>
            <a:off x="10668305" y="381305"/>
            <a:ext cx="952805" cy="33375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71500" y="1209751"/>
            <a:ext cx="472927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75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training matters</a:t>
            </a:r>
            <a:endParaRPr lang="en-US" sz="3300" dirty="0"/>
          </a:p>
        </p:txBody>
      </p:sp>
      <p:sp>
        <p:nvSpPr>
          <p:cNvPr id="15" name="Text 9"/>
          <p:cNvSpPr txBox="1"/>
          <p:nvPr/>
        </p:nvSpPr>
        <p:spPr>
          <a:xfrm>
            <a:off x="571500" y="2286000"/>
            <a:ext cx="4267505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Salesforce creates one standard way of working across the NxN commercial journey — improving process clarity, data quality, governance, reporting, and commercial control.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724205" y="3486607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2ECC7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 l="-837" r="-837"/>
          <a:stretch/>
        </p:blipFill>
        <p:spPr>
          <a:xfrm>
            <a:off x="800100" y="3571646"/>
            <a:ext cx="152705" cy="13350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181405" y="3486607"/>
            <a:ext cx="32964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Consistency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1181405" y="3715207"/>
            <a:ext cx="377372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structured path from prospect to active customer.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724205" y="4438498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2ECC7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9244" y="4524451"/>
            <a:ext cx="133502" cy="13350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181405" y="4438498"/>
            <a:ext cx="32964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</a:t>
            </a:r>
            <a:endParaRPr lang="en-US" sz="1200" dirty="0"/>
          </a:p>
        </p:txBody>
      </p:sp>
      <p:sp>
        <p:nvSpPr>
          <p:cNvPr id="23" name="Text 15"/>
          <p:cNvSpPr txBox="1"/>
          <p:nvPr/>
        </p:nvSpPr>
        <p:spPr>
          <a:xfrm>
            <a:off x="1181405" y="4667098"/>
            <a:ext cx="377372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Stage-based governance ensures business readiness.</a:t>
            </a:r>
            <a:endParaRPr lang="en-US" sz="900" dirty="0"/>
          </a:p>
        </p:txBody>
      </p:sp>
      <p:sp>
        <p:nvSpPr>
          <p:cNvPr id="24" name="Shape 16"/>
          <p:cNvSpPr/>
          <p:nvPr/>
        </p:nvSpPr>
        <p:spPr>
          <a:xfrm>
            <a:off x="724205" y="5391302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2ECC7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09244" y="5477256"/>
            <a:ext cx="133502" cy="133502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181405" y="5391302"/>
            <a:ext cx="33147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Visibility</a:t>
            </a:r>
            <a:endParaRPr lang="en-US" sz="1200" dirty="0"/>
          </a:p>
        </p:txBody>
      </p:sp>
      <p:sp>
        <p:nvSpPr>
          <p:cNvPr id="27" name="Text 18"/>
          <p:cNvSpPr txBox="1"/>
          <p:nvPr/>
        </p:nvSpPr>
        <p:spPr>
          <a:xfrm>
            <a:off x="1181405" y="5619902"/>
            <a:ext cx="379476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lead quality, pipeline, and active/dormant status.</a:t>
            </a:r>
            <a:endParaRPr lang="en-US" sz="900" dirty="0"/>
          </a:p>
        </p:txBody>
      </p:sp>
      <p:sp>
        <p:nvSpPr>
          <p:cNvPr id="28" name="Text 19"/>
          <p:cNvSpPr txBox="1"/>
          <p:nvPr/>
        </p:nvSpPr>
        <p:spPr>
          <a:xfrm>
            <a:off x="5951830" y="1619402"/>
            <a:ext cx="273497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2ECC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Training Scope </a:t>
            </a:r>
            <a:endParaRPr lang="en-US" sz="9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/>
          <a:srcRect l="-4000" r="-4000"/>
          <a:stretch/>
        </p:blipFill>
        <p:spPr>
          <a:xfrm>
            <a:off x="5715000" y="1633118"/>
            <a:ext cx="123444" cy="11430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5715000" y="1904695"/>
            <a:ext cx="48774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Commercial Lifecycle</a:t>
            </a:r>
            <a:endParaRPr lang="en-US" sz="180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11"/>
          <a:srcRect l="-405" r="-405"/>
          <a:stretch/>
        </p:blipFill>
        <p:spPr>
          <a:xfrm>
            <a:off x="5857646" y="2762402"/>
            <a:ext cx="19202" cy="2200046"/>
          </a:xfrm>
          <a:prstGeom prst="rect">
            <a:avLst/>
          </a:prstGeom>
        </p:spPr>
      </p:pic>
      <p:sp>
        <p:nvSpPr>
          <p:cNvPr id="32" name="Shape 21"/>
          <p:cNvSpPr/>
          <p:nvPr/>
        </p:nvSpPr>
        <p:spPr>
          <a:xfrm>
            <a:off x="6210605" y="2572207"/>
            <a:ext cx="638251" cy="333756"/>
          </a:xfrm>
          <a:prstGeom prst="roundRect">
            <a:avLst>
              <a:gd name="adj" fmla="val 273973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2"/>
          <p:cNvSpPr/>
          <p:nvPr/>
        </p:nvSpPr>
        <p:spPr>
          <a:xfrm>
            <a:off x="6181344" y="2572207"/>
            <a:ext cx="695858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</a:t>
            </a:r>
            <a:endParaRPr lang="en-US" sz="1000" dirty="0"/>
          </a:p>
        </p:txBody>
      </p:sp>
      <p:sp>
        <p:nvSpPr>
          <p:cNvPr id="34" name="Shape 23"/>
          <p:cNvSpPr/>
          <p:nvPr/>
        </p:nvSpPr>
        <p:spPr>
          <a:xfrm>
            <a:off x="6961327" y="2572207"/>
            <a:ext cx="1133856" cy="333756"/>
          </a:xfrm>
          <a:prstGeom prst="roundRect">
            <a:avLst>
              <a:gd name="adj" fmla="val 273973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4"/>
          <p:cNvSpPr/>
          <p:nvPr/>
        </p:nvSpPr>
        <p:spPr>
          <a:xfrm>
            <a:off x="6932981" y="2572207"/>
            <a:ext cx="1191463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Qualification</a:t>
            </a:r>
            <a:endParaRPr lang="en-US" sz="1000" dirty="0"/>
          </a:p>
        </p:txBody>
      </p:sp>
      <p:sp>
        <p:nvSpPr>
          <p:cNvPr id="36" name="Shape 25"/>
          <p:cNvSpPr/>
          <p:nvPr/>
        </p:nvSpPr>
        <p:spPr>
          <a:xfrm>
            <a:off x="6210605" y="3133649"/>
            <a:ext cx="1067105" cy="333756"/>
          </a:xfrm>
          <a:prstGeom prst="roundRect">
            <a:avLst>
              <a:gd name="adj" fmla="val 273973"/>
            </a:avLst>
          </a:prstGeom>
          <a:solidFill>
            <a:srgbClr val="2ECC71">
              <a:alpha val="10000"/>
            </a:srgbClr>
          </a:solidFill>
          <a:ln w="12700">
            <a:solidFill>
              <a:srgbClr val="2ECC7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6"/>
          <p:cNvSpPr/>
          <p:nvPr/>
        </p:nvSpPr>
        <p:spPr>
          <a:xfrm>
            <a:off x="6181344" y="3133649"/>
            <a:ext cx="1124712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8C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</a:t>
            </a:r>
            <a:endParaRPr lang="en-US" sz="1000" dirty="0"/>
          </a:p>
        </p:txBody>
      </p:sp>
      <p:sp>
        <p:nvSpPr>
          <p:cNvPr id="38" name="Shape 27"/>
          <p:cNvSpPr/>
          <p:nvPr/>
        </p:nvSpPr>
        <p:spPr>
          <a:xfrm>
            <a:off x="7385609" y="3133649"/>
            <a:ext cx="1495044" cy="333756"/>
          </a:xfrm>
          <a:prstGeom prst="roundRect">
            <a:avLst>
              <a:gd name="adj" fmla="val 273973"/>
            </a:avLst>
          </a:prstGeom>
          <a:solidFill>
            <a:srgbClr val="2ECC71">
              <a:alpha val="10000"/>
            </a:srgbClr>
          </a:solidFill>
          <a:ln w="12700">
            <a:solidFill>
              <a:srgbClr val="2ECC7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28"/>
          <p:cNvSpPr/>
          <p:nvPr/>
        </p:nvSpPr>
        <p:spPr>
          <a:xfrm>
            <a:off x="7356348" y="3133649"/>
            <a:ext cx="1555394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8C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 / Contact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6210605" y="3696005"/>
            <a:ext cx="1095451" cy="333756"/>
          </a:xfrm>
          <a:prstGeom prst="roundRect">
            <a:avLst>
              <a:gd name="adj" fmla="val 273973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0"/>
          <p:cNvSpPr/>
          <p:nvPr/>
        </p:nvSpPr>
        <p:spPr>
          <a:xfrm>
            <a:off x="6181344" y="3696005"/>
            <a:ext cx="1153058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Opportunity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7413955" y="3696005"/>
            <a:ext cx="714146" cy="333756"/>
          </a:xfrm>
          <a:prstGeom prst="roundRect">
            <a:avLst>
              <a:gd name="adj" fmla="val 273973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2"/>
          <p:cNvSpPr/>
          <p:nvPr/>
        </p:nvSpPr>
        <p:spPr>
          <a:xfrm>
            <a:off x="7385609" y="3696005"/>
            <a:ext cx="771754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Quote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8237830" y="3696005"/>
            <a:ext cx="886054" cy="333756"/>
          </a:xfrm>
          <a:prstGeom prst="roundRect">
            <a:avLst>
              <a:gd name="adj" fmla="val 273973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4"/>
          <p:cNvSpPr/>
          <p:nvPr/>
        </p:nvSpPr>
        <p:spPr>
          <a:xfrm>
            <a:off x="8209483" y="3696005"/>
            <a:ext cx="94366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6210605" y="4257446"/>
            <a:ext cx="1485900" cy="333756"/>
          </a:xfrm>
          <a:prstGeom prst="roundRect">
            <a:avLst>
              <a:gd name="adj" fmla="val 273973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6"/>
          <p:cNvSpPr/>
          <p:nvPr/>
        </p:nvSpPr>
        <p:spPr>
          <a:xfrm>
            <a:off x="6180430" y="4257446"/>
            <a:ext cx="1546250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 Won / Lost</a:t>
            </a:r>
            <a:endParaRPr lang="en-US" sz="1000" dirty="0"/>
          </a:p>
        </p:txBody>
      </p:sp>
      <p:sp>
        <p:nvSpPr>
          <p:cNvPr id="48" name="Shape 37"/>
          <p:cNvSpPr/>
          <p:nvPr/>
        </p:nvSpPr>
        <p:spPr>
          <a:xfrm>
            <a:off x="6210605" y="4819802"/>
            <a:ext cx="1571854" cy="333756"/>
          </a:xfrm>
          <a:prstGeom prst="roundRect">
            <a:avLst>
              <a:gd name="adj" fmla="val 27397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38"/>
          <p:cNvSpPr/>
          <p:nvPr/>
        </p:nvSpPr>
        <p:spPr>
          <a:xfrm>
            <a:off x="6178601" y="4819802"/>
            <a:ext cx="1634947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Lifecycle</a:t>
            </a:r>
            <a:endParaRPr lang="en-US" sz="1000" dirty="0"/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715000" y="2585923"/>
            <a:ext cx="304495" cy="304495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5686654" y="2585923"/>
            <a:ext cx="3621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pic>
        <p:nvPicPr>
          <p:cNvPr id="52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715000" y="3148279"/>
            <a:ext cx="304495" cy="304495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5686654" y="3148279"/>
            <a:ext cx="3621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pic>
        <p:nvPicPr>
          <p:cNvPr id="54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715000" y="3709721"/>
            <a:ext cx="304495" cy="304495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5686654" y="3709721"/>
            <a:ext cx="3621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pic>
        <p:nvPicPr>
          <p:cNvPr id="56" name="Image 12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715000" y="4272077"/>
            <a:ext cx="304495" cy="304495"/>
          </a:xfrm>
          <a:prstGeom prst="rect">
            <a:avLst/>
          </a:prstGeom>
        </p:spPr>
      </p:pic>
      <p:sp>
        <p:nvSpPr>
          <p:cNvPr id="57" name="Text 42"/>
          <p:cNvSpPr/>
          <p:nvPr/>
        </p:nvSpPr>
        <p:spPr>
          <a:xfrm>
            <a:off x="5686654" y="4272077"/>
            <a:ext cx="3621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  <p:pic>
        <p:nvPicPr>
          <p:cNvPr id="58" name="Image 13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5715000" y="4833518"/>
            <a:ext cx="304495" cy="304495"/>
          </a:xfrm>
          <a:prstGeom prst="rect">
            <a:avLst/>
          </a:prstGeom>
        </p:spPr>
      </p:pic>
      <p:pic>
        <p:nvPicPr>
          <p:cNvPr id="59" name="Image 14" descr="preencoded.png"/>
          <p:cNvPicPr>
            <a:picLocks noChangeAspect="1"/>
          </p:cNvPicPr>
          <p:nvPr/>
        </p:nvPicPr>
        <p:blipFill>
          <a:blip r:embed="rId14"/>
          <a:srcRect t="-1100" b="-1100"/>
          <a:stretch/>
        </p:blipFill>
        <p:spPr>
          <a:xfrm>
            <a:off x="5810098" y="4919472"/>
            <a:ext cx="114300" cy="1335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-36357" y="0"/>
            <a:ext cx="12191695" cy="6858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71500" y="476402"/>
            <a:ext cx="857707" cy="428854"/>
          </a:xfrm>
          <a:prstGeom prst="roundRect">
            <a:avLst>
              <a:gd name="adj" fmla="val 5685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952805" y="3619195"/>
            <a:ext cx="10287000" cy="3840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t="-320" b="-320"/>
          <a:stretch/>
        </p:blipFill>
        <p:spPr>
          <a:xfrm>
            <a:off x="10096805" y="3619195"/>
            <a:ext cx="286207" cy="1920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 l="-384" r="-384"/>
          <a:stretch/>
        </p:blipFill>
        <p:spPr>
          <a:xfrm>
            <a:off x="10382098" y="3143707"/>
            <a:ext cx="19202" cy="95280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t="-320" b="-320"/>
          <a:stretch/>
        </p:blipFill>
        <p:spPr>
          <a:xfrm>
            <a:off x="10382098" y="3143707"/>
            <a:ext cx="286207" cy="19202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5"/>
          <a:srcRect t="-320" b="-320"/>
          <a:stretch/>
        </p:blipFill>
        <p:spPr>
          <a:xfrm>
            <a:off x="10382098" y="4095598"/>
            <a:ext cx="286207" cy="19202"/>
          </a:xfrm>
          <a:prstGeom prst="rect">
            <a:avLst/>
          </a:prstGeom>
        </p:spPr>
      </p:pic>
      <p:sp>
        <p:nvSpPr>
          <p:cNvPr id="11" name="Shape 3"/>
          <p:cNvSpPr/>
          <p:nvPr/>
        </p:nvSpPr>
        <p:spPr>
          <a:xfrm>
            <a:off x="11239805" y="2381098"/>
            <a:ext cx="19202" cy="95098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4"/>
          <p:cNvSpPr/>
          <p:nvPr/>
        </p:nvSpPr>
        <p:spPr>
          <a:xfrm>
            <a:off x="11239805" y="2000707"/>
            <a:ext cx="19202" cy="95098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5"/>
          <p:cNvSpPr/>
          <p:nvPr/>
        </p:nvSpPr>
        <p:spPr>
          <a:xfrm>
            <a:off x="11239805" y="2857500"/>
            <a:ext cx="19202" cy="95098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6"/>
          <p:cNvSpPr/>
          <p:nvPr/>
        </p:nvSpPr>
        <p:spPr>
          <a:xfrm>
            <a:off x="952805" y="3429000"/>
            <a:ext cx="418795" cy="418795"/>
          </a:xfrm>
          <a:prstGeom prst="ellipse">
            <a:avLst/>
          </a:prstGeom>
          <a:solidFill>
            <a:srgbClr val="1A1A1A"/>
          </a:solidFill>
          <a:ln w="254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7"/>
          <p:cNvSpPr/>
          <p:nvPr/>
        </p:nvSpPr>
        <p:spPr>
          <a:xfrm>
            <a:off x="2095805" y="3429000"/>
            <a:ext cx="418795" cy="418795"/>
          </a:xfrm>
          <a:prstGeom prst="ellipse">
            <a:avLst/>
          </a:prstGeom>
          <a:solidFill>
            <a:srgbClr val="1A1A1A"/>
          </a:solidFill>
          <a:ln w="254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238805" y="3429000"/>
            <a:ext cx="418795" cy="418795"/>
          </a:xfrm>
          <a:prstGeom prst="rect">
            <a:avLst/>
          </a:prstGeom>
        </p:spPr>
      </p:pic>
      <p:sp>
        <p:nvSpPr>
          <p:cNvPr id="17" name="Shape 8"/>
          <p:cNvSpPr/>
          <p:nvPr/>
        </p:nvSpPr>
        <p:spPr>
          <a:xfrm>
            <a:off x="4381805" y="3429000"/>
            <a:ext cx="418795" cy="418795"/>
          </a:xfrm>
          <a:prstGeom prst="ellipse">
            <a:avLst/>
          </a:prstGeom>
          <a:solidFill>
            <a:srgbClr val="1A1A1A"/>
          </a:solidFill>
          <a:ln w="254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9"/>
          <p:cNvSpPr/>
          <p:nvPr/>
        </p:nvSpPr>
        <p:spPr>
          <a:xfrm>
            <a:off x="5524805" y="3429000"/>
            <a:ext cx="418795" cy="418795"/>
          </a:xfrm>
          <a:prstGeom prst="ellipse">
            <a:avLst/>
          </a:prstGeom>
          <a:solidFill>
            <a:srgbClr val="1A1A1A"/>
          </a:solidFill>
          <a:ln w="254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0"/>
          <p:cNvSpPr/>
          <p:nvPr/>
        </p:nvSpPr>
        <p:spPr>
          <a:xfrm>
            <a:off x="6667805" y="3429000"/>
            <a:ext cx="418795" cy="418795"/>
          </a:xfrm>
          <a:prstGeom prst="ellipse">
            <a:avLst/>
          </a:prstGeom>
          <a:solidFill>
            <a:srgbClr val="1A1A1A"/>
          </a:solidFill>
          <a:ln w="254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1"/>
          <p:cNvSpPr/>
          <p:nvPr/>
        </p:nvSpPr>
        <p:spPr>
          <a:xfrm>
            <a:off x="7810805" y="3429000"/>
            <a:ext cx="418795" cy="418795"/>
          </a:xfrm>
          <a:prstGeom prst="ellipse">
            <a:avLst/>
          </a:prstGeom>
          <a:solidFill>
            <a:srgbClr val="1A1A1A"/>
          </a:solidFill>
          <a:ln w="254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2"/>
          <p:cNvSpPr/>
          <p:nvPr/>
        </p:nvSpPr>
        <p:spPr>
          <a:xfrm>
            <a:off x="8953805" y="3429000"/>
            <a:ext cx="418795" cy="418795"/>
          </a:xfrm>
          <a:prstGeom prst="ellipse">
            <a:avLst/>
          </a:prstGeom>
          <a:solidFill>
            <a:srgbClr val="1A1A1A"/>
          </a:solidFill>
          <a:ln w="254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3"/>
          <p:cNvSpPr/>
          <p:nvPr/>
        </p:nvSpPr>
        <p:spPr>
          <a:xfrm>
            <a:off x="10668305" y="2952598"/>
            <a:ext cx="1143000" cy="381305"/>
          </a:xfrm>
          <a:prstGeom prst="roundRect">
            <a:avLst>
              <a:gd name="adj" fmla="val 239808"/>
            </a:avLst>
          </a:prstGeom>
          <a:solidFill>
            <a:srgbClr val="1A1A1A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4"/>
          <p:cNvSpPr/>
          <p:nvPr/>
        </p:nvSpPr>
        <p:spPr>
          <a:xfrm>
            <a:off x="10668305" y="3905402"/>
            <a:ext cx="1143000" cy="381305"/>
          </a:xfrm>
          <a:prstGeom prst="roundRect">
            <a:avLst>
              <a:gd name="adj" fmla="val 239808"/>
            </a:avLst>
          </a:prstGeom>
          <a:solidFill>
            <a:srgbClr val="1A1A1A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5"/>
          <p:cNvSpPr/>
          <p:nvPr/>
        </p:nvSpPr>
        <p:spPr>
          <a:xfrm>
            <a:off x="10668305" y="2095805"/>
            <a:ext cx="1143000" cy="286207"/>
          </a:xfrm>
          <a:prstGeom prst="roundRect">
            <a:avLst>
              <a:gd name="adj" fmla="val 319489"/>
            </a:avLst>
          </a:prstGeom>
          <a:solidFill>
            <a:srgbClr val="2ECC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6"/>
          <p:cNvSpPr/>
          <p:nvPr/>
        </p:nvSpPr>
        <p:spPr>
          <a:xfrm>
            <a:off x="10953598" y="2476195"/>
            <a:ext cx="571500" cy="190195"/>
          </a:xfrm>
          <a:prstGeom prst="roundRect">
            <a:avLst>
              <a:gd name="adj" fmla="val 480770"/>
            </a:avLst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7"/>
          <p:cNvSpPr/>
          <p:nvPr/>
        </p:nvSpPr>
        <p:spPr>
          <a:xfrm>
            <a:off x="10953598" y="1809598"/>
            <a:ext cx="571500" cy="190195"/>
          </a:xfrm>
          <a:prstGeom prst="roundRect">
            <a:avLst>
              <a:gd name="adj" fmla="val 480770"/>
            </a:avLst>
          </a:prstGeom>
          <a:solidFill>
            <a:srgbClr val="FF4D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8"/>
          <a:srcRect t="17361" b="17361"/>
          <a:stretch/>
        </p:blipFill>
        <p:spPr>
          <a:xfrm>
            <a:off x="666598" y="543154"/>
            <a:ext cx="666598" cy="295351"/>
          </a:xfrm>
          <a:prstGeom prst="rect">
            <a:avLst/>
          </a:prstGeom>
        </p:spPr>
      </p:pic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9"/>
          <a:srcRect l="893" r="893"/>
          <a:stretch/>
        </p:blipFill>
        <p:spPr>
          <a:xfrm>
            <a:off x="10287000" y="476402"/>
            <a:ext cx="1333195" cy="428854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571500" y="1333195"/>
            <a:ext cx="781080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full customer journey</a:t>
            </a:r>
            <a:endParaRPr lang="en-US" sz="3600" dirty="0"/>
          </a:p>
        </p:txBody>
      </p:sp>
      <p:sp>
        <p:nvSpPr>
          <p:cNvPr id="30" name="Text 19"/>
          <p:cNvSpPr txBox="1"/>
          <p:nvPr/>
        </p:nvSpPr>
        <p:spPr>
          <a:xfrm>
            <a:off x="1130198" y="3543300"/>
            <a:ext cx="1435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Text 20"/>
          <p:cNvSpPr txBox="1"/>
          <p:nvPr/>
        </p:nvSpPr>
        <p:spPr>
          <a:xfrm>
            <a:off x="482803" y="4000500"/>
            <a:ext cx="135879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Intake</a:t>
            </a:r>
            <a:endParaRPr lang="en-US" sz="1000" dirty="0"/>
          </a:p>
        </p:txBody>
      </p:sp>
      <p:sp>
        <p:nvSpPr>
          <p:cNvPr id="32" name="Text 21"/>
          <p:cNvSpPr txBox="1"/>
          <p:nvPr/>
        </p:nvSpPr>
        <p:spPr>
          <a:xfrm>
            <a:off x="421538" y="4200754"/>
            <a:ext cx="148041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prospect enters</a:t>
            </a:r>
            <a:endParaRPr lang="en-US" sz="900" dirty="0"/>
          </a:p>
        </p:txBody>
      </p:sp>
      <p:sp>
        <p:nvSpPr>
          <p:cNvPr id="33" name="Text 22"/>
          <p:cNvSpPr txBox="1"/>
          <p:nvPr/>
        </p:nvSpPr>
        <p:spPr>
          <a:xfrm>
            <a:off x="2257654" y="3543300"/>
            <a:ext cx="171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3"/>
          <p:cNvSpPr txBox="1"/>
          <p:nvPr/>
        </p:nvSpPr>
        <p:spPr>
          <a:xfrm>
            <a:off x="1625803" y="4000500"/>
            <a:ext cx="135879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</a:t>
            </a:r>
            <a:endParaRPr lang="en-US" sz="1000" dirty="0"/>
          </a:p>
        </p:txBody>
      </p:sp>
      <p:sp>
        <p:nvSpPr>
          <p:cNvPr id="35" name="Text 24"/>
          <p:cNvSpPr txBox="1"/>
          <p:nvPr/>
        </p:nvSpPr>
        <p:spPr>
          <a:xfrm>
            <a:off x="1686154" y="4200754"/>
            <a:ext cx="1239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company identity</a:t>
            </a:r>
            <a:endParaRPr lang="en-US" sz="900" dirty="0"/>
          </a:p>
        </p:txBody>
      </p:sp>
      <p:sp>
        <p:nvSpPr>
          <p:cNvPr id="36" name="Text 25"/>
          <p:cNvSpPr txBox="1"/>
          <p:nvPr/>
        </p:nvSpPr>
        <p:spPr>
          <a:xfrm>
            <a:off x="3399739" y="3543300"/>
            <a:ext cx="181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CC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26"/>
          <p:cNvSpPr txBox="1"/>
          <p:nvPr/>
        </p:nvSpPr>
        <p:spPr>
          <a:xfrm>
            <a:off x="2768803" y="4000500"/>
            <a:ext cx="135879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CC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Qualification</a:t>
            </a:r>
            <a:endParaRPr lang="en-US" sz="1000" dirty="0"/>
          </a:p>
        </p:txBody>
      </p:sp>
      <p:sp>
        <p:nvSpPr>
          <p:cNvPr id="38" name="Text 27"/>
          <p:cNvSpPr txBox="1"/>
          <p:nvPr/>
        </p:nvSpPr>
        <p:spPr>
          <a:xfrm>
            <a:off x="2745029" y="4200754"/>
            <a:ext cx="140634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 fit &amp; viability</a:t>
            </a:r>
            <a:endParaRPr lang="en-US" sz="900" dirty="0"/>
          </a:p>
        </p:txBody>
      </p:sp>
      <p:sp>
        <p:nvSpPr>
          <p:cNvPr id="39" name="Text 28"/>
          <p:cNvSpPr txBox="1"/>
          <p:nvPr/>
        </p:nvSpPr>
        <p:spPr>
          <a:xfrm>
            <a:off x="4539996" y="3543300"/>
            <a:ext cx="181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Text 29"/>
          <p:cNvSpPr txBox="1"/>
          <p:nvPr/>
        </p:nvSpPr>
        <p:spPr>
          <a:xfrm>
            <a:off x="3911803" y="4000500"/>
            <a:ext cx="135879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</a:t>
            </a:r>
            <a:endParaRPr lang="en-US" sz="1000" dirty="0"/>
          </a:p>
        </p:txBody>
      </p:sp>
      <p:sp>
        <p:nvSpPr>
          <p:cNvPr id="41" name="Text 30"/>
          <p:cNvSpPr txBox="1"/>
          <p:nvPr/>
        </p:nvSpPr>
        <p:spPr>
          <a:xfrm>
            <a:off x="3972154" y="4200754"/>
            <a:ext cx="1239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correct structure</a:t>
            </a:r>
            <a:endParaRPr lang="en-US" sz="900" dirty="0"/>
          </a:p>
        </p:txBody>
      </p:sp>
      <p:sp>
        <p:nvSpPr>
          <p:cNvPr id="42" name="Text 31"/>
          <p:cNvSpPr txBox="1"/>
          <p:nvPr/>
        </p:nvSpPr>
        <p:spPr>
          <a:xfrm>
            <a:off x="5687568" y="3543300"/>
            <a:ext cx="171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43" name="Text 32"/>
          <p:cNvSpPr txBox="1"/>
          <p:nvPr/>
        </p:nvSpPr>
        <p:spPr>
          <a:xfrm>
            <a:off x="5054803" y="4000500"/>
            <a:ext cx="135879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 Setup</a:t>
            </a:r>
            <a:endParaRPr lang="en-US" sz="1000" dirty="0"/>
          </a:p>
        </p:txBody>
      </p:sp>
      <p:sp>
        <p:nvSpPr>
          <p:cNvPr id="44" name="Text 33"/>
          <p:cNvSpPr txBox="1"/>
          <p:nvPr/>
        </p:nvSpPr>
        <p:spPr>
          <a:xfrm>
            <a:off x="5031029" y="4200754"/>
            <a:ext cx="140634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Parent &amp; Entity Child</a:t>
            </a:r>
            <a:endParaRPr lang="en-US" sz="900" dirty="0"/>
          </a:p>
        </p:txBody>
      </p:sp>
      <p:sp>
        <p:nvSpPr>
          <p:cNvPr id="45" name="Text 34"/>
          <p:cNvSpPr txBox="1"/>
          <p:nvPr/>
        </p:nvSpPr>
        <p:spPr>
          <a:xfrm>
            <a:off x="6827825" y="3543300"/>
            <a:ext cx="181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46" name="Text 35"/>
          <p:cNvSpPr txBox="1"/>
          <p:nvPr/>
        </p:nvSpPr>
        <p:spPr>
          <a:xfrm>
            <a:off x="6197803" y="4000500"/>
            <a:ext cx="135879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Opportunity</a:t>
            </a:r>
            <a:endParaRPr lang="en-US" sz="1000" dirty="0"/>
          </a:p>
        </p:txBody>
      </p:sp>
      <p:sp>
        <p:nvSpPr>
          <p:cNvPr id="47" name="Text 36"/>
          <p:cNvSpPr txBox="1"/>
          <p:nvPr/>
        </p:nvSpPr>
        <p:spPr>
          <a:xfrm>
            <a:off x="6197803" y="4200754"/>
            <a:ext cx="135879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stages</a:t>
            </a:r>
            <a:endParaRPr lang="en-US" sz="900" dirty="0"/>
          </a:p>
        </p:txBody>
      </p:sp>
      <p:sp>
        <p:nvSpPr>
          <p:cNvPr id="48" name="Text 37"/>
          <p:cNvSpPr txBox="1"/>
          <p:nvPr/>
        </p:nvSpPr>
        <p:spPr>
          <a:xfrm>
            <a:off x="7976311" y="3543300"/>
            <a:ext cx="171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49" name="Text 38"/>
          <p:cNvSpPr txBox="1"/>
          <p:nvPr/>
        </p:nvSpPr>
        <p:spPr>
          <a:xfrm>
            <a:off x="7340803" y="4000500"/>
            <a:ext cx="135879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Quote</a:t>
            </a:r>
            <a:endParaRPr lang="en-US" sz="1000" dirty="0"/>
          </a:p>
        </p:txBody>
      </p:sp>
      <p:sp>
        <p:nvSpPr>
          <p:cNvPr id="50" name="Text 39"/>
          <p:cNvSpPr txBox="1"/>
          <p:nvPr/>
        </p:nvSpPr>
        <p:spPr>
          <a:xfrm>
            <a:off x="7401154" y="4200754"/>
            <a:ext cx="1239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 commercial offer</a:t>
            </a:r>
            <a:endParaRPr lang="en-US" sz="900" dirty="0"/>
          </a:p>
        </p:txBody>
      </p:sp>
      <p:sp>
        <p:nvSpPr>
          <p:cNvPr id="51" name="Text 40"/>
          <p:cNvSpPr txBox="1"/>
          <p:nvPr/>
        </p:nvSpPr>
        <p:spPr>
          <a:xfrm>
            <a:off x="9113825" y="3543300"/>
            <a:ext cx="181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52" name="Text 41"/>
          <p:cNvSpPr txBox="1"/>
          <p:nvPr/>
        </p:nvSpPr>
        <p:spPr>
          <a:xfrm>
            <a:off x="8483803" y="4000500"/>
            <a:ext cx="135879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</a:t>
            </a:r>
            <a:endParaRPr lang="en-US" sz="1000" dirty="0"/>
          </a:p>
        </p:txBody>
      </p:sp>
      <p:sp>
        <p:nvSpPr>
          <p:cNvPr id="53" name="Text 42"/>
          <p:cNvSpPr txBox="1"/>
          <p:nvPr/>
        </p:nvSpPr>
        <p:spPr>
          <a:xfrm>
            <a:off x="8483803" y="4200754"/>
            <a:ext cx="135879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Binding agreement</a:t>
            </a:r>
            <a:endParaRPr lang="en-US" sz="900" dirty="0"/>
          </a:p>
        </p:txBody>
      </p:sp>
      <p:sp>
        <p:nvSpPr>
          <p:cNvPr id="54" name="Text 43"/>
          <p:cNvSpPr txBox="1"/>
          <p:nvPr/>
        </p:nvSpPr>
        <p:spPr>
          <a:xfrm>
            <a:off x="10879531" y="3066898"/>
            <a:ext cx="8769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CC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 Won</a:t>
            </a:r>
            <a:endParaRPr lang="en-US" sz="900" dirty="0"/>
          </a:p>
        </p:txBody>
      </p:sp>
      <p:sp>
        <p:nvSpPr>
          <p:cNvPr id="55" name="Text 44"/>
          <p:cNvSpPr txBox="1"/>
          <p:nvPr/>
        </p:nvSpPr>
        <p:spPr>
          <a:xfrm>
            <a:off x="10886846" y="4019702"/>
            <a:ext cx="9518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 Lost</a:t>
            </a:r>
            <a:endParaRPr lang="en-US" sz="900" dirty="0"/>
          </a:p>
        </p:txBody>
      </p:sp>
      <p:sp>
        <p:nvSpPr>
          <p:cNvPr id="56" name="Text 45"/>
          <p:cNvSpPr txBox="1"/>
          <p:nvPr/>
        </p:nvSpPr>
        <p:spPr>
          <a:xfrm>
            <a:off x="11060582" y="2167128"/>
            <a:ext cx="48006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</a:t>
            </a:r>
            <a:endParaRPr lang="en-US" sz="900" dirty="0"/>
          </a:p>
        </p:txBody>
      </p:sp>
      <p:sp>
        <p:nvSpPr>
          <p:cNvPr id="57" name="Text 46"/>
          <p:cNvSpPr txBox="1"/>
          <p:nvPr/>
        </p:nvSpPr>
        <p:spPr>
          <a:xfrm>
            <a:off x="11040466" y="2514600"/>
            <a:ext cx="4764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Dormant</a:t>
            </a:r>
            <a:endParaRPr lang="en-US" sz="800" dirty="0"/>
          </a:p>
        </p:txBody>
      </p:sp>
      <p:sp>
        <p:nvSpPr>
          <p:cNvPr id="58" name="Text 47"/>
          <p:cNvSpPr txBox="1"/>
          <p:nvPr/>
        </p:nvSpPr>
        <p:spPr>
          <a:xfrm>
            <a:off x="11055096" y="1848002"/>
            <a:ext cx="4700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Blocked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2">
            <a:extLst>
              <a:ext uri="{FF2B5EF4-FFF2-40B4-BE49-F238E27FC236}">
                <a16:creationId xmlns:a16="http://schemas.microsoft.com/office/drawing/2014/main" id="{2BCFC7D1-D2E7-E0DB-30DC-AEA2A7156D48}"/>
              </a:ext>
            </a:extLst>
          </p:cNvPr>
          <p:cNvSpPr/>
          <p:nvPr/>
        </p:nvSpPr>
        <p:spPr>
          <a:xfrm>
            <a:off x="545719" y="4490078"/>
            <a:ext cx="4086764" cy="1639478"/>
          </a:xfrm>
          <a:prstGeom prst="roundRect">
            <a:avLst>
              <a:gd name="adj" fmla="val 9987"/>
            </a:avLst>
          </a:prstGeom>
          <a:solidFill>
            <a:srgbClr val="FFFFFF"/>
          </a:solidFill>
          <a:ln w="3175">
            <a:solidFill>
              <a:schemeClr val="tx1">
                <a:alpha val="20000"/>
              </a:schemeClr>
            </a:solidFill>
            <a:prstDash val="solid"/>
          </a:ln>
          <a:effectLst>
            <a:outerShdw blurRad="1143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Shape 2">
            <a:extLst>
              <a:ext uri="{FF2B5EF4-FFF2-40B4-BE49-F238E27FC236}">
                <a16:creationId xmlns:a16="http://schemas.microsoft.com/office/drawing/2014/main" id="{334E8CFA-FFCD-34A3-484A-ED8C2272276D}"/>
              </a:ext>
            </a:extLst>
          </p:cNvPr>
          <p:cNvSpPr/>
          <p:nvPr/>
        </p:nvSpPr>
        <p:spPr>
          <a:xfrm>
            <a:off x="6205153" y="2131292"/>
            <a:ext cx="4086764" cy="1639478"/>
          </a:xfrm>
          <a:prstGeom prst="roundRect">
            <a:avLst>
              <a:gd name="adj" fmla="val 9987"/>
            </a:avLst>
          </a:prstGeom>
          <a:solidFill>
            <a:srgbClr val="FFFFFF">
              <a:alpha val="16000"/>
            </a:srgbClr>
          </a:solidFill>
          <a:ln w="3175">
            <a:solidFill>
              <a:schemeClr val="tx1">
                <a:alpha val="20000"/>
              </a:schemeClr>
            </a:solidFill>
            <a:prstDash val="solid"/>
          </a:ln>
          <a:effectLst>
            <a:outerShdw blurRad="1143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45719" y="2119785"/>
            <a:ext cx="4086764" cy="1634445"/>
          </a:xfrm>
          <a:prstGeom prst="roundRect">
            <a:avLst>
              <a:gd name="adj" fmla="val 9987"/>
            </a:avLst>
          </a:prstGeom>
          <a:solidFill>
            <a:srgbClr val="FFFFFF"/>
          </a:solidFill>
          <a:ln w="12700">
            <a:solidFill>
              <a:srgbClr val="92D050">
                <a:alpha val="2000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71500" y="2119785"/>
            <a:ext cx="4086764" cy="54936"/>
          </a:xfrm>
          <a:prstGeom prst="roundRect">
            <a:avLst>
              <a:gd name="adj" fmla="val 416239"/>
            </a:avLst>
          </a:prstGeom>
          <a:solidFill>
            <a:srgbClr val="2ECC71"/>
          </a:solidFill>
          <a:ln w="12700">
            <a:solidFill>
              <a:srgbClr val="2ECC7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230935" y="2124150"/>
            <a:ext cx="4086763" cy="56077"/>
          </a:xfrm>
          <a:prstGeom prst="roundRect">
            <a:avLst>
              <a:gd name="adj" fmla="val 416239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71500" y="4461339"/>
            <a:ext cx="4086763" cy="57479"/>
          </a:xfrm>
          <a:prstGeom prst="roundRect">
            <a:avLst>
              <a:gd name="adj" fmla="val 416239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05153" y="4428887"/>
            <a:ext cx="4086764" cy="1700669"/>
          </a:xfrm>
          <a:prstGeom prst="roundRect">
            <a:avLst>
              <a:gd name="adj" fmla="val 9987"/>
            </a:avLst>
          </a:prstGeom>
          <a:solidFill>
            <a:srgbClr val="FFFFFF">
              <a:alpha val="20000"/>
            </a:srgbClr>
          </a:solidFill>
          <a:ln w="3175">
            <a:solidFill>
              <a:schemeClr val="tx1">
                <a:alpha val="20000"/>
              </a:schemeClr>
            </a:solidFill>
            <a:prstDash val="solid"/>
          </a:ln>
          <a:effectLst>
            <a:outerShdw blurRad="1143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205153" y="4428886"/>
            <a:ext cx="4086764" cy="45719"/>
          </a:xfrm>
          <a:prstGeom prst="roundRect">
            <a:avLst>
              <a:gd name="adj" fmla="val 416239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rcRect t="6980" b="6980"/>
          <a:stretch/>
        </p:blipFill>
        <p:spPr>
          <a:xfrm>
            <a:off x="571500" y="381305"/>
            <a:ext cx="571500" cy="333756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rcRect l="4905" r="4905"/>
          <a:stretch/>
        </p:blipFill>
        <p:spPr>
          <a:xfrm>
            <a:off x="10668305" y="381305"/>
            <a:ext cx="952805" cy="3337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71500" y="1047902"/>
            <a:ext cx="7810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Roles</a:t>
            </a:r>
            <a:endParaRPr lang="en-US" sz="2700" dirty="0"/>
          </a:p>
        </p:txBody>
      </p:sp>
      <p:sp>
        <p:nvSpPr>
          <p:cNvPr id="18" name="Text 13"/>
          <p:cNvSpPr txBox="1"/>
          <p:nvPr/>
        </p:nvSpPr>
        <p:spPr>
          <a:xfrm>
            <a:off x="571500" y="1555854"/>
            <a:ext cx="2971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75" dirty="0">
                <a:solidFill>
                  <a:srgbClr val="2ECC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Ownership</a:t>
            </a:r>
            <a:endParaRPr lang="en-US" dirty="0"/>
          </a:p>
        </p:txBody>
      </p:sp>
      <p:sp>
        <p:nvSpPr>
          <p:cNvPr id="19" name="Text 14"/>
          <p:cNvSpPr txBox="1"/>
          <p:nvPr/>
        </p:nvSpPr>
        <p:spPr>
          <a:xfrm>
            <a:off x="724205" y="2271575"/>
            <a:ext cx="3729792" cy="370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</a:t>
            </a:r>
            <a:endParaRPr lang="en-US" dirty="0"/>
          </a:p>
        </p:txBody>
      </p:sp>
      <p:sp>
        <p:nvSpPr>
          <p:cNvPr id="20" name="Text 15"/>
          <p:cNvSpPr txBox="1"/>
          <p:nvPr/>
        </p:nvSpPr>
        <p:spPr>
          <a:xfrm>
            <a:off x="857250" y="2736497"/>
            <a:ext cx="3484728" cy="370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&amp; Qualification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846737" y="3056872"/>
            <a:ext cx="3484728" cy="370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Opportunity progression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6383641" y="2275940"/>
            <a:ext cx="3729791" cy="378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 Manager</a:t>
            </a:r>
            <a:endParaRPr lang="en-US" dirty="0"/>
          </a:p>
        </p:txBody>
      </p:sp>
      <p:sp>
        <p:nvSpPr>
          <p:cNvPr id="23" name="Text 18"/>
          <p:cNvSpPr txBox="1"/>
          <p:nvPr/>
        </p:nvSpPr>
        <p:spPr>
          <a:xfrm>
            <a:off x="6506172" y="2732651"/>
            <a:ext cx="3484727" cy="378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follow-up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6506172" y="3049181"/>
            <a:ext cx="3484727" cy="378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Dormancy awareness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737544" y="4613130"/>
            <a:ext cx="3729791" cy="326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/ Governance</a:t>
            </a:r>
            <a:endParaRPr lang="en-US" dirty="0"/>
          </a:p>
        </p:txBody>
      </p:sp>
      <p:sp>
        <p:nvSpPr>
          <p:cNvPr id="26" name="Text 21"/>
          <p:cNvSpPr txBox="1"/>
          <p:nvPr/>
        </p:nvSpPr>
        <p:spPr>
          <a:xfrm>
            <a:off x="857250" y="5024797"/>
            <a:ext cx="3484727" cy="326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 review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857250" y="5301530"/>
            <a:ext cx="3484727" cy="326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Hierarchy governance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6377038" y="4580676"/>
            <a:ext cx="3729792" cy="275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Approvers / Leadership</a:t>
            </a:r>
            <a:endParaRPr lang="en-US" dirty="0"/>
          </a:p>
        </p:txBody>
      </p:sp>
      <p:sp>
        <p:nvSpPr>
          <p:cNvPr id="29" name="Text 24"/>
          <p:cNvSpPr txBox="1"/>
          <p:nvPr/>
        </p:nvSpPr>
        <p:spPr>
          <a:xfrm>
            <a:off x="6543537" y="5024797"/>
            <a:ext cx="3484728" cy="275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 approvals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6543537" y="5352435"/>
            <a:ext cx="3484728" cy="275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Contracting approvals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10296-83DE-0B76-0E72-EC9436304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0">
            <a:extLst>
              <a:ext uri="{FF2B5EF4-FFF2-40B4-BE49-F238E27FC236}">
                <a16:creationId xmlns:a16="http://schemas.microsoft.com/office/drawing/2014/main" id="{4C8E172F-0F19-EC0B-0168-68B120234B2D}"/>
              </a:ext>
            </a:extLst>
          </p:cNvPr>
          <p:cNvSpPr/>
          <p:nvPr/>
        </p:nvSpPr>
        <p:spPr>
          <a:xfrm>
            <a:off x="658978" y="2714044"/>
            <a:ext cx="6495898" cy="590702"/>
          </a:xfrm>
          <a:prstGeom prst="roundRect">
            <a:avLst>
              <a:gd name="adj" fmla="val 149805"/>
            </a:avLst>
          </a:prstGeom>
          <a:solidFill>
            <a:srgbClr val="FFFFFF"/>
          </a:solidFill>
          <a:ln w="12700">
            <a:solidFill>
              <a:schemeClr val="bg2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A29BD6E3-4C59-CBAC-BE9C-B1DFD9ADBF82}"/>
              </a:ext>
            </a:extLst>
          </p:cNvPr>
          <p:cNvSpPr/>
          <p:nvPr/>
        </p:nvSpPr>
        <p:spPr>
          <a:xfrm>
            <a:off x="7421880" y="2714044"/>
            <a:ext cx="4286707" cy="571500"/>
          </a:xfrm>
          <a:prstGeom prst="roundRect">
            <a:avLst>
              <a:gd name="adj" fmla="val 42667"/>
            </a:avLst>
          </a:prstGeom>
          <a:solidFill>
            <a:srgbClr val="F5F5F5"/>
          </a:solidFill>
          <a:ln w="12700">
            <a:solidFill>
              <a:schemeClr val="bg2">
                <a:lumMod val="90000"/>
                <a:alpha val="5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0A3315C1-E73D-808B-0C12-54A3DF0F85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980" b="6980"/>
          <a:stretch/>
        </p:blipFill>
        <p:spPr>
          <a:xfrm>
            <a:off x="571500" y="381305"/>
            <a:ext cx="571500" cy="333756"/>
          </a:xfrm>
          <a:prstGeom prst="rect">
            <a:avLst/>
          </a:prstGeom>
        </p:spPr>
      </p:pic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E4A70E9A-0F7B-E8C9-44FB-24F9B77330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05" r="4905"/>
          <a:stretch/>
        </p:blipFill>
        <p:spPr>
          <a:xfrm>
            <a:off x="10668305" y="381305"/>
            <a:ext cx="952805" cy="333756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F8FFA2E6-D8B2-7E3E-A3D1-2C10F984C627}"/>
              </a:ext>
            </a:extLst>
          </p:cNvPr>
          <p:cNvSpPr txBox="1"/>
          <p:nvPr/>
        </p:nvSpPr>
        <p:spPr>
          <a:xfrm>
            <a:off x="571500" y="1047902"/>
            <a:ext cx="7810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management essentials</a:t>
            </a:r>
            <a:endParaRPr lang="en-US" sz="2700" dirty="0"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4417B092-ECCD-297B-161B-773817F6C6B9}"/>
              </a:ext>
            </a:extLst>
          </p:cNvPr>
          <p:cNvSpPr txBox="1"/>
          <p:nvPr/>
        </p:nvSpPr>
        <p:spPr>
          <a:xfrm>
            <a:off x="658978" y="2332739"/>
            <a:ext cx="2971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2ECC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Management</a:t>
            </a:r>
            <a:endParaRPr lang="en-US" sz="1000" dirty="0"/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F58CE95F-6E50-217C-7622-F7AA4009E69E}"/>
              </a:ext>
            </a:extLst>
          </p:cNvPr>
          <p:cNvSpPr txBox="1"/>
          <p:nvPr/>
        </p:nvSpPr>
        <p:spPr>
          <a:xfrm>
            <a:off x="849173" y="2714044"/>
            <a:ext cx="35295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</a:t>
            </a:r>
            <a:endParaRPr lang="en-US" sz="1000" dirty="0"/>
          </a:p>
        </p:txBody>
      </p:sp>
      <p:pic>
        <p:nvPicPr>
          <p:cNvPr id="33" name="Image 3" descr="preencoded.png">
            <a:extLst>
              <a:ext uri="{FF2B5EF4-FFF2-40B4-BE49-F238E27FC236}">
                <a16:creationId xmlns:a16="http://schemas.microsoft.com/office/drawing/2014/main" id="{7DE2D089-AED8-83EB-4A12-C2F57A0B03B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3120" r="-3120"/>
          <a:stretch/>
        </p:blipFill>
        <p:spPr>
          <a:xfrm>
            <a:off x="1677620" y="2942644"/>
            <a:ext cx="75895" cy="114300"/>
          </a:xfrm>
          <a:prstGeom prst="rect">
            <a:avLst/>
          </a:prstGeom>
        </p:spPr>
      </p:pic>
      <p:sp>
        <p:nvSpPr>
          <p:cNvPr id="34" name="Text 28">
            <a:extLst>
              <a:ext uri="{FF2B5EF4-FFF2-40B4-BE49-F238E27FC236}">
                <a16:creationId xmlns:a16="http://schemas.microsoft.com/office/drawing/2014/main" id="{EBD8B225-ACBC-1968-3F16-53EEA7994E77}"/>
              </a:ext>
            </a:extLst>
          </p:cNvPr>
          <p:cNvSpPr txBox="1"/>
          <p:nvPr/>
        </p:nvSpPr>
        <p:spPr>
          <a:xfrm>
            <a:off x="2292096" y="2714044"/>
            <a:ext cx="159562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Contacted / Verification</a:t>
            </a:r>
            <a:endParaRPr lang="en-US" sz="1000" dirty="0"/>
          </a:p>
        </p:txBody>
      </p:sp>
      <p:pic>
        <p:nvPicPr>
          <p:cNvPr id="35" name="Image 4" descr="preencoded.png">
            <a:extLst>
              <a:ext uri="{FF2B5EF4-FFF2-40B4-BE49-F238E27FC236}">
                <a16:creationId xmlns:a16="http://schemas.microsoft.com/office/drawing/2014/main" id="{0FDD5D97-AC66-1B7A-915A-7C27B3EE6D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3120" r="-3120"/>
          <a:stretch/>
        </p:blipFill>
        <p:spPr>
          <a:xfrm>
            <a:off x="4363212" y="2942644"/>
            <a:ext cx="75895" cy="114300"/>
          </a:xfrm>
          <a:prstGeom prst="rect">
            <a:avLst/>
          </a:prstGeom>
        </p:spPr>
      </p:pic>
      <p:sp>
        <p:nvSpPr>
          <p:cNvPr id="36" name="Text 29">
            <a:extLst>
              <a:ext uri="{FF2B5EF4-FFF2-40B4-BE49-F238E27FC236}">
                <a16:creationId xmlns:a16="http://schemas.microsoft.com/office/drawing/2014/main" id="{F90785CC-57FA-4DE7-15D2-DBA4F76130F1}"/>
              </a:ext>
            </a:extLst>
          </p:cNvPr>
          <p:cNvSpPr txBox="1"/>
          <p:nvPr/>
        </p:nvSpPr>
        <p:spPr>
          <a:xfrm>
            <a:off x="4977689" y="2714044"/>
            <a:ext cx="6382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CC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Qualified</a:t>
            </a:r>
            <a:endParaRPr lang="en-US" sz="1000" dirty="0"/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30A84A76-CD1D-CFA0-575F-BAA12207ADE0}"/>
              </a:ext>
            </a:extLst>
          </p:cNvPr>
          <p:cNvSpPr txBox="1"/>
          <p:nvPr/>
        </p:nvSpPr>
        <p:spPr>
          <a:xfrm>
            <a:off x="6096000" y="2714044"/>
            <a:ext cx="914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Disqualified</a:t>
            </a:r>
            <a:endParaRPr lang="en-US" sz="1000" dirty="0"/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2A6982D7-8CC4-4B18-4BDA-F56D8B57026B}"/>
              </a:ext>
            </a:extLst>
          </p:cNvPr>
          <p:cNvSpPr txBox="1"/>
          <p:nvPr/>
        </p:nvSpPr>
        <p:spPr>
          <a:xfrm>
            <a:off x="7824216" y="2923442"/>
            <a:ext cx="153344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Trusted: Route direct</a:t>
            </a:r>
            <a:endParaRPr lang="en-US" sz="900" dirty="0"/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45D0D334-F6EE-BA6C-EAE2-AA6D7088368F}"/>
              </a:ext>
            </a:extLst>
          </p:cNvPr>
          <p:cNvSpPr txBox="1"/>
          <p:nvPr/>
        </p:nvSpPr>
        <p:spPr>
          <a:xfrm>
            <a:off x="9644787" y="2923442"/>
            <a:ext cx="227045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Untrusted: Route to verification</a:t>
            </a:r>
            <a:endParaRPr lang="en-US" sz="900" dirty="0"/>
          </a:p>
        </p:txBody>
      </p:sp>
      <p:pic>
        <p:nvPicPr>
          <p:cNvPr id="40" name="Image 5" descr="preencoded.png">
            <a:extLst>
              <a:ext uri="{FF2B5EF4-FFF2-40B4-BE49-F238E27FC236}">
                <a16:creationId xmlns:a16="http://schemas.microsoft.com/office/drawing/2014/main" id="{1375274D-900C-41AD-4F30-65FE2B490E8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612076" y="2938986"/>
            <a:ext cx="123444" cy="123444"/>
          </a:xfrm>
          <a:prstGeom prst="rect">
            <a:avLst/>
          </a:prstGeom>
        </p:spPr>
      </p:pic>
      <p:pic>
        <p:nvPicPr>
          <p:cNvPr id="41" name="Image 6" descr="preencoded.png">
            <a:extLst>
              <a:ext uri="{FF2B5EF4-FFF2-40B4-BE49-F238E27FC236}">
                <a16:creationId xmlns:a16="http://schemas.microsoft.com/office/drawing/2014/main" id="{89643CAF-1548-9107-F071-A8FAA1BB6E0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432646" y="2938986"/>
            <a:ext cx="123444" cy="123444"/>
          </a:xfrm>
          <a:prstGeom prst="rect">
            <a:avLst/>
          </a:prstGeom>
        </p:spPr>
      </p:pic>
      <p:sp>
        <p:nvSpPr>
          <p:cNvPr id="42" name="Text 33">
            <a:extLst>
              <a:ext uri="{FF2B5EF4-FFF2-40B4-BE49-F238E27FC236}">
                <a16:creationId xmlns:a16="http://schemas.microsoft.com/office/drawing/2014/main" id="{A7E8F1DD-094D-2C03-C68A-67EDC7B94DA5}"/>
              </a:ext>
            </a:extLst>
          </p:cNvPr>
          <p:cNvSpPr txBox="1"/>
          <p:nvPr/>
        </p:nvSpPr>
        <p:spPr>
          <a:xfrm>
            <a:off x="658978" y="3666849"/>
            <a:ext cx="19815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Qualification Framework</a:t>
            </a:r>
            <a:endParaRPr lang="en-US" sz="900" dirty="0"/>
          </a:p>
        </p:txBody>
      </p:sp>
      <p:sp>
        <p:nvSpPr>
          <p:cNvPr id="43" name="Shape 34">
            <a:extLst>
              <a:ext uri="{FF2B5EF4-FFF2-40B4-BE49-F238E27FC236}">
                <a16:creationId xmlns:a16="http://schemas.microsoft.com/office/drawing/2014/main" id="{F6B71849-CFBB-8176-A862-A2B5D8038954}"/>
              </a:ext>
            </a:extLst>
          </p:cNvPr>
          <p:cNvSpPr/>
          <p:nvPr/>
        </p:nvSpPr>
        <p:spPr>
          <a:xfrm>
            <a:off x="658978" y="3952142"/>
            <a:ext cx="1371600" cy="304495"/>
          </a:xfrm>
          <a:prstGeom prst="roundRect">
            <a:avLst>
              <a:gd name="adj" fmla="val 300300"/>
            </a:avLst>
          </a:prstGeom>
          <a:solidFill>
            <a:srgbClr val="E8F8F0"/>
          </a:solidFill>
          <a:ln w="12700">
            <a:solidFill>
              <a:srgbClr val="BEE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5">
            <a:extLst>
              <a:ext uri="{FF2B5EF4-FFF2-40B4-BE49-F238E27FC236}">
                <a16:creationId xmlns:a16="http://schemas.microsoft.com/office/drawing/2014/main" id="{FE7EDF9F-654A-D7FE-BD0F-B6944F12BE6A}"/>
              </a:ext>
            </a:extLst>
          </p:cNvPr>
          <p:cNvSpPr/>
          <p:nvPr/>
        </p:nvSpPr>
        <p:spPr>
          <a:xfrm>
            <a:off x="630632" y="3952142"/>
            <a:ext cx="1429207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63500" rIns="152400" bIns="635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88C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Identity</a:t>
            </a:r>
            <a:endParaRPr lang="en-US" sz="900" dirty="0"/>
          </a:p>
        </p:txBody>
      </p:sp>
      <p:sp>
        <p:nvSpPr>
          <p:cNvPr id="45" name="Shape 36">
            <a:extLst>
              <a:ext uri="{FF2B5EF4-FFF2-40B4-BE49-F238E27FC236}">
                <a16:creationId xmlns:a16="http://schemas.microsoft.com/office/drawing/2014/main" id="{B4BA5FA6-E2ED-858B-635D-CE0F0FF8982B}"/>
              </a:ext>
            </a:extLst>
          </p:cNvPr>
          <p:cNvSpPr/>
          <p:nvPr/>
        </p:nvSpPr>
        <p:spPr>
          <a:xfrm>
            <a:off x="2144878" y="3952142"/>
            <a:ext cx="1037844" cy="304495"/>
          </a:xfrm>
          <a:prstGeom prst="roundRect">
            <a:avLst>
              <a:gd name="adj" fmla="val 300300"/>
            </a:avLst>
          </a:prstGeom>
          <a:solidFill>
            <a:srgbClr val="E8F8F0"/>
          </a:solidFill>
          <a:ln w="12700">
            <a:solidFill>
              <a:srgbClr val="BEE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AD3E3496-F0B6-8615-6B2C-CA93DAEA29D1}"/>
              </a:ext>
            </a:extLst>
          </p:cNvPr>
          <p:cNvSpPr/>
          <p:nvPr/>
        </p:nvSpPr>
        <p:spPr>
          <a:xfrm>
            <a:off x="2115617" y="3952142"/>
            <a:ext cx="1095451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63500" rIns="152400" bIns="635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88C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Stakeholder</a:t>
            </a:r>
            <a:endParaRPr lang="en-US" sz="900" dirty="0"/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65D72A14-699F-C2A9-E41E-9212FE25F0C4}"/>
              </a:ext>
            </a:extLst>
          </p:cNvPr>
          <p:cNvSpPr/>
          <p:nvPr/>
        </p:nvSpPr>
        <p:spPr>
          <a:xfrm>
            <a:off x="3292450" y="3952142"/>
            <a:ext cx="1324051" cy="304495"/>
          </a:xfrm>
          <a:prstGeom prst="roundRect">
            <a:avLst>
              <a:gd name="adj" fmla="val 300300"/>
            </a:avLst>
          </a:prstGeom>
          <a:solidFill>
            <a:srgbClr val="E8F8F0"/>
          </a:solidFill>
          <a:ln w="12700">
            <a:solidFill>
              <a:srgbClr val="BEE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ACBC76B1-7437-5405-5349-F30DDF869ED2}"/>
              </a:ext>
            </a:extLst>
          </p:cNvPr>
          <p:cNvSpPr/>
          <p:nvPr/>
        </p:nvSpPr>
        <p:spPr>
          <a:xfrm>
            <a:off x="3264104" y="3952142"/>
            <a:ext cx="1381658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63500" rIns="152400" bIns="635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88C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/ Use Case</a:t>
            </a:r>
            <a:endParaRPr lang="en-US" sz="900" dirty="0"/>
          </a:p>
        </p:txBody>
      </p:sp>
      <p:sp>
        <p:nvSpPr>
          <p:cNvPr id="49" name="Shape 40">
            <a:extLst>
              <a:ext uri="{FF2B5EF4-FFF2-40B4-BE49-F238E27FC236}">
                <a16:creationId xmlns:a16="http://schemas.microsoft.com/office/drawing/2014/main" id="{25EDA54A-DB86-5CF8-FCD0-7DD43FDF0391}"/>
              </a:ext>
            </a:extLst>
          </p:cNvPr>
          <p:cNvSpPr/>
          <p:nvPr/>
        </p:nvSpPr>
        <p:spPr>
          <a:xfrm>
            <a:off x="4722572" y="3952142"/>
            <a:ext cx="1218895" cy="304495"/>
          </a:xfrm>
          <a:prstGeom prst="roundRect">
            <a:avLst>
              <a:gd name="adj" fmla="val 300300"/>
            </a:avLst>
          </a:prstGeom>
          <a:solidFill>
            <a:srgbClr val="E8F8F0"/>
          </a:solidFill>
          <a:ln w="12700">
            <a:solidFill>
              <a:srgbClr val="BEE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1">
            <a:extLst>
              <a:ext uri="{FF2B5EF4-FFF2-40B4-BE49-F238E27FC236}">
                <a16:creationId xmlns:a16="http://schemas.microsoft.com/office/drawing/2014/main" id="{A12510AE-83BA-85EA-EB75-2E2D48AD0903}"/>
              </a:ext>
            </a:extLst>
          </p:cNvPr>
          <p:cNvSpPr/>
          <p:nvPr/>
        </p:nvSpPr>
        <p:spPr>
          <a:xfrm>
            <a:off x="4694225" y="3952142"/>
            <a:ext cx="12765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63500" rIns="152400" bIns="635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88C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Fit</a:t>
            </a:r>
            <a:endParaRPr lang="en-US" sz="900" dirty="0"/>
          </a:p>
        </p:txBody>
      </p:sp>
      <p:sp>
        <p:nvSpPr>
          <p:cNvPr id="51" name="Shape 42">
            <a:extLst>
              <a:ext uri="{FF2B5EF4-FFF2-40B4-BE49-F238E27FC236}">
                <a16:creationId xmlns:a16="http://schemas.microsoft.com/office/drawing/2014/main" id="{B3C3426A-2E25-05D1-60EE-71914EB35374}"/>
              </a:ext>
            </a:extLst>
          </p:cNvPr>
          <p:cNvSpPr/>
          <p:nvPr/>
        </p:nvSpPr>
        <p:spPr>
          <a:xfrm>
            <a:off x="6048452" y="3952142"/>
            <a:ext cx="800100" cy="304495"/>
          </a:xfrm>
          <a:prstGeom prst="roundRect">
            <a:avLst>
              <a:gd name="adj" fmla="val 300300"/>
            </a:avLst>
          </a:prstGeom>
          <a:solidFill>
            <a:srgbClr val="E8F8F0"/>
          </a:solidFill>
          <a:ln w="12700">
            <a:solidFill>
              <a:srgbClr val="BEE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3">
            <a:extLst>
              <a:ext uri="{FF2B5EF4-FFF2-40B4-BE49-F238E27FC236}">
                <a16:creationId xmlns:a16="http://schemas.microsoft.com/office/drawing/2014/main" id="{0D9D5945-4A66-C659-04DD-96437D06B76A}"/>
              </a:ext>
            </a:extLst>
          </p:cNvPr>
          <p:cNvSpPr/>
          <p:nvPr/>
        </p:nvSpPr>
        <p:spPr>
          <a:xfrm>
            <a:off x="6020105" y="3952142"/>
            <a:ext cx="857707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63500" rIns="152400" bIns="635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88C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Viability</a:t>
            </a:r>
            <a:endParaRPr lang="en-US" sz="900" dirty="0"/>
          </a:p>
        </p:txBody>
      </p:sp>
      <p:sp>
        <p:nvSpPr>
          <p:cNvPr id="53" name="Text 44">
            <a:extLst>
              <a:ext uri="{FF2B5EF4-FFF2-40B4-BE49-F238E27FC236}">
                <a16:creationId xmlns:a16="http://schemas.microsoft.com/office/drawing/2014/main" id="{00D3F64F-32B2-1F4E-A671-BD939DEF9EBA}"/>
              </a:ext>
            </a:extLst>
          </p:cNvPr>
          <p:cNvSpPr txBox="1"/>
          <p:nvPr/>
        </p:nvSpPr>
        <p:spPr>
          <a:xfrm>
            <a:off x="658978" y="4618739"/>
            <a:ext cx="19815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Assignment Queues</a:t>
            </a:r>
            <a:endParaRPr lang="en-US" sz="900" dirty="0"/>
          </a:p>
        </p:txBody>
      </p:sp>
      <p:sp>
        <p:nvSpPr>
          <p:cNvPr id="54" name="Shape 45">
            <a:extLst>
              <a:ext uri="{FF2B5EF4-FFF2-40B4-BE49-F238E27FC236}">
                <a16:creationId xmlns:a16="http://schemas.microsoft.com/office/drawing/2014/main" id="{1BA02DD5-7758-8072-4B8E-3E0D18240B69}"/>
              </a:ext>
            </a:extLst>
          </p:cNvPr>
          <p:cNvSpPr/>
          <p:nvPr/>
        </p:nvSpPr>
        <p:spPr>
          <a:xfrm>
            <a:off x="658978" y="4904946"/>
            <a:ext cx="1019556" cy="304495"/>
          </a:xfrm>
          <a:prstGeom prst="roundRect">
            <a:avLst>
              <a:gd name="adj" fmla="val 7507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6">
            <a:extLst>
              <a:ext uri="{FF2B5EF4-FFF2-40B4-BE49-F238E27FC236}">
                <a16:creationId xmlns:a16="http://schemas.microsoft.com/office/drawing/2014/main" id="{CF543B7A-9AF6-6D1D-C655-4D2A54E26D8D}"/>
              </a:ext>
            </a:extLst>
          </p:cNvPr>
          <p:cNvSpPr txBox="1"/>
          <p:nvPr/>
        </p:nvSpPr>
        <p:spPr>
          <a:xfrm>
            <a:off x="658978" y="4904946"/>
            <a:ext cx="1077163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63500" rIns="152400" bIns="635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Queue</a:t>
            </a:r>
            <a:endParaRPr lang="en-US" sz="90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A040ACF5-BB9C-170B-BBCA-F06C17D855DA}"/>
              </a:ext>
            </a:extLst>
          </p:cNvPr>
          <p:cNvSpPr/>
          <p:nvPr/>
        </p:nvSpPr>
        <p:spPr>
          <a:xfrm>
            <a:off x="1786433" y="4904946"/>
            <a:ext cx="1362456" cy="304495"/>
          </a:xfrm>
          <a:prstGeom prst="roundRect">
            <a:avLst>
              <a:gd name="adj" fmla="val 7507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48">
            <a:extLst>
              <a:ext uri="{FF2B5EF4-FFF2-40B4-BE49-F238E27FC236}">
                <a16:creationId xmlns:a16="http://schemas.microsoft.com/office/drawing/2014/main" id="{F06173C0-C4E2-BAE7-3A39-44B382F7A1C4}"/>
              </a:ext>
            </a:extLst>
          </p:cNvPr>
          <p:cNvSpPr txBox="1"/>
          <p:nvPr/>
        </p:nvSpPr>
        <p:spPr>
          <a:xfrm>
            <a:off x="1786433" y="4904946"/>
            <a:ext cx="1420063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63500" rIns="152400" bIns="635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Contacted Queue</a:t>
            </a:r>
            <a:endParaRPr lang="en-US" sz="900" dirty="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4A1F8F48-E4C2-2ADF-39D3-EC967CF02E9B}"/>
              </a:ext>
            </a:extLst>
          </p:cNvPr>
          <p:cNvSpPr/>
          <p:nvPr/>
        </p:nvSpPr>
        <p:spPr>
          <a:xfrm>
            <a:off x="3262275" y="4904946"/>
            <a:ext cx="1285646" cy="304495"/>
          </a:xfrm>
          <a:prstGeom prst="roundRect">
            <a:avLst>
              <a:gd name="adj" fmla="val 7507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0">
            <a:extLst>
              <a:ext uri="{FF2B5EF4-FFF2-40B4-BE49-F238E27FC236}">
                <a16:creationId xmlns:a16="http://schemas.microsoft.com/office/drawing/2014/main" id="{7E0174A0-8E3A-B961-BF62-CAB625EE9B05}"/>
              </a:ext>
            </a:extLst>
          </p:cNvPr>
          <p:cNvSpPr txBox="1"/>
          <p:nvPr/>
        </p:nvSpPr>
        <p:spPr>
          <a:xfrm>
            <a:off x="3262275" y="4904946"/>
            <a:ext cx="1343254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63500" rIns="152400" bIns="635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Qualified Queue</a:t>
            </a:r>
            <a:endParaRPr lang="en-US" sz="900" dirty="0"/>
          </a:p>
        </p:txBody>
      </p:sp>
      <p:sp>
        <p:nvSpPr>
          <p:cNvPr id="60" name="Shape 51">
            <a:extLst>
              <a:ext uri="{FF2B5EF4-FFF2-40B4-BE49-F238E27FC236}">
                <a16:creationId xmlns:a16="http://schemas.microsoft.com/office/drawing/2014/main" id="{C3AC2B05-D5EF-4F5B-5A10-85999179F74B}"/>
              </a:ext>
            </a:extLst>
          </p:cNvPr>
          <p:cNvSpPr/>
          <p:nvPr/>
        </p:nvSpPr>
        <p:spPr>
          <a:xfrm>
            <a:off x="4653077" y="4904946"/>
            <a:ext cx="1447495" cy="304495"/>
          </a:xfrm>
          <a:prstGeom prst="roundRect">
            <a:avLst>
              <a:gd name="adj" fmla="val 7507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2">
            <a:extLst>
              <a:ext uri="{FF2B5EF4-FFF2-40B4-BE49-F238E27FC236}">
                <a16:creationId xmlns:a16="http://schemas.microsoft.com/office/drawing/2014/main" id="{A2F96626-FFA6-FEB2-563D-84F4C3956B26}"/>
              </a:ext>
            </a:extLst>
          </p:cNvPr>
          <p:cNvSpPr txBox="1"/>
          <p:nvPr/>
        </p:nvSpPr>
        <p:spPr>
          <a:xfrm>
            <a:off x="4653077" y="4904946"/>
            <a:ext cx="1506017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63500" rIns="152400" bIns="635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Disqualified Queue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57923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CF72C-FF10-0896-4773-662F07308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FC7D63-0DF9-8DF8-AC8B-3326CCFFA2BE}"/>
              </a:ext>
            </a:extLst>
          </p:cNvPr>
          <p:cNvSpPr/>
          <p:nvPr/>
        </p:nvSpPr>
        <p:spPr>
          <a:xfrm>
            <a:off x="2" y="0"/>
            <a:ext cx="12192000" cy="6858000"/>
          </a:xfrm>
          <a:prstGeom prst="rect">
            <a:avLst/>
          </a:prstGeom>
          <a:solidFill>
            <a:srgbClr val="0A0D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14753BD5-D931-5F22-4A35-B598CB80F30D}"/>
              </a:ext>
            </a:extLst>
          </p:cNvPr>
          <p:cNvSpPr/>
          <p:nvPr/>
        </p:nvSpPr>
        <p:spPr>
          <a:xfrm>
            <a:off x="835361" y="381305"/>
            <a:ext cx="10706776" cy="4876495"/>
          </a:xfrm>
          <a:prstGeom prst="roundRect">
            <a:avLst/>
          </a:prstGeom>
          <a:solidFill>
            <a:srgbClr val="111111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311E9E-64D0-22C5-443E-93014E1CBFF7}"/>
              </a:ext>
            </a:extLst>
          </p:cNvPr>
          <p:cNvSpPr/>
          <p:nvPr/>
        </p:nvSpPr>
        <p:spPr>
          <a:xfrm>
            <a:off x="1271872" y="1216152"/>
            <a:ext cx="73152" cy="3520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19">
            <a:extLst>
              <a:ext uri="{FF2B5EF4-FFF2-40B4-BE49-F238E27FC236}">
                <a16:creationId xmlns:a16="http://schemas.microsoft.com/office/drawing/2014/main" id="{6BDE7432-93B0-B497-F08A-BB7432B2FF27}"/>
              </a:ext>
            </a:extLst>
          </p:cNvPr>
          <p:cNvSpPr/>
          <p:nvPr/>
        </p:nvSpPr>
        <p:spPr>
          <a:xfrm>
            <a:off x="1463896" y="1325880"/>
            <a:ext cx="1874519" cy="43891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0A80E7-AEBD-B35C-267B-DBA833B178ED}"/>
              </a:ext>
            </a:extLst>
          </p:cNvPr>
          <p:cNvSpPr txBox="1"/>
          <p:nvPr/>
        </p:nvSpPr>
        <p:spPr>
          <a:xfrm>
            <a:off x="1463896" y="1325880"/>
            <a:ext cx="1874519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SALESFORCE DEMO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D97C7D-7942-9881-79C4-6C378F50245C}"/>
              </a:ext>
            </a:extLst>
          </p:cNvPr>
          <p:cNvSpPr txBox="1"/>
          <p:nvPr/>
        </p:nvSpPr>
        <p:spPr>
          <a:xfrm>
            <a:off x="1491328" y="1828800"/>
            <a:ext cx="56692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 Display"/>
              </a:rPr>
              <a:t>Lead Demo in Salesforce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FD42C1-F6C3-7CD5-6D20-F9AE848E4C12}"/>
              </a:ext>
            </a:extLst>
          </p:cNvPr>
          <p:cNvSpPr txBox="1"/>
          <p:nvPr/>
        </p:nvSpPr>
        <p:spPr>
          <a:xfrm>
            <a:off x="1548178" y="2523744"/>
            <a:ext cx="54406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ptos"/>
              </a:rPr>
              <a:t>We will switch to Salesforce to show lead intake, qualification, and the handoff into conversion.</a:t>
            </a:r>
          </a:p>
        </p:txBody>
      </p:sp>
      <p:sp>
        <p:nvSpPr>
          <p:cNvPr id="17" name="Rounded Rectangle 28">
            <a:extLst>
              <a:ext uri="{FF2B5EF4-FFF2-40B4-BE49-F238E27FC236}">
                <a16:creationId xmlns:a16="http://schemas.microsoft.com/office/drawing/2014/main" id="{C772D393-9604-2954-2B22-3189F445F7A6}"/>
              </a:ext>
            </a:extLst>
          </p:cNvPr>
          <p:cNvSpPr/>
          <p:nvPr/>
        </p:nvSpPr>
        <p:spPr>
          <a:xfrm>
            <a:off x="1491328" y="3660925"/>
            <a:ext cx="946404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29">
            <a:extLst>
              <a:ext uri="{FF2B5EF4-FFF2-40B4-BE49-F238E27FC236}">
                <a16:creationId xmlns:a16="http://schemas.microsoft.com/office/drawing/2014/main" id="{738BD536-2235-5D2F-D387-0735650F979D}"/>
              </a:ext>
            </a:extLst>
          </p:cNvPr>
          <p:cNvSpPr/>
          <p:nvPr/>
        </p:nvSpPr>
        <p:spPr>
          <a:xfrm>
            <a:off x="1710784" y="3862555"/>
            <a:ext cx="2423160" cy="512064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4A3220-B1D1-3DAB-EC04-2D98C0C54F92}"/>
              </a:ext>
            </a:extLst>
          </p:cNvPr>
          <p:cNvSpPr txBox="1"/>
          <p:nvPr/>
        </p:nvSpPr>
        <p:spPr>
          <a:xfrm>
            <a:off x="1710784" y="3844267"/>
            <a:ext cx="24231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  <a:latin typeface="Aptos"/>
              </a:rPr>
              <a:t>Lead intake</a:t>
            </a:r>
          </a:p>
        </p:txBody>
      </p:sp>
      <p:sp>
        <p:nvSpPr>
          <p:cNvPr id="20" name="Chevron 31">
            <a:extLst>
              <a:ext uri="{FF2B5EF4-FFF2-40B4-BE49-F238E27FC236}">
                <a16:creationId xmlns:a16="http://schemas.microsoft.com/office/drawing/2014/main" id="{B8A65017-A442-D8EA-090E-833281B4EE43}"/>
              </a:ext>
            </a:extLst>
          </p:cNvPr>
          <p:cNvSpPr/>
          <p:nvPr/>
        </p:nvSpPr>
        <p:spPr>
          <a:xfrm>
            <a:off x="4284588" y="3953995"/>
            <a:ext cx="438912" cy="329184"/>
          </a:xfrm>
          <a:prstGeom prst="chevron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32">
            <a:extLst>
              <a:ext uri="{FF2B5EF4-FFF2-40B4-BE49-F238E27FC236}">
                <a16:creationId xmlns:a16="http://schemas.microsoft.com/office/drawing/2014/main" id="{367D7D29-7F28-4917-81FD-5931F4490CA6}"/>
              </a:ext>
            </a:extLst>
          </p:cNvPr>
          <p:cNvSpPr/>
          <p:nvPr/>
        </p:nvSpPr>
        <p:spPr>
          <a:xfrm>
            <a:off x="4869804" y="3862555"/>
            <a:ext cx="2423160" cy="512064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DF6338-9DC8-DE78-3B11-B9BAAAF06869}"/>
              </a:ext>
            </a:extLst>
          </p:cNvPr>
          <p:cNvSpPr txBox="1"/>
          <p:nvPr/>
        </p:nvSpPr>
        <p:spPr>
          <a:xfrm>
            <a:off x="4879928" y="3862555"/>
            <a:ext cx="24231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  <a:latin typeface="Aptos"/>
              </a:rPr>
              <a:t>Qualification</a:t>
            </a:r>
          </a:p>
        </p:txBody>
      </p:sp>
      <p:sp>
        <p:nvSpPr>
          <p:cNvPr id="23" name="Chevron 34">
            <a:extLst>
              <a:ext uri="{FF2B5EF4-FFF2-40B4-BE49-F238E27FC236}">
                <a16:creationId xmlns:a16="http://schemas.microsoft.com/office/drawing/2014/main" id="{63E6305A-7279-5F55-D7EE-09AA2CB73BA4}"/>
              </a:ext>
            </a:extLst>
          </p:cNvPr>
          <p:cNvSpPr/>
          <p:nvPr/>
        </p:nvSpPr>
        <p:spPr>
          <a:xfrm>
            <a:off x="7490328" y="3953995"/>
            <a:ext cx="438912" cy="329184"/>
          </a:xfrm>
          <a:prstGeom prst="chevron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35">
            <a:extLst>
              <a:ext uri="{FF2B5EF4-FFF2-40B4-BE49-F238E27FC236}">
                <a16:creationId xmlns:a16="http://schemas.microsoft.com/office/drawing/2014/main" id="{9083ED10-16C6-F72F-8C21-C6969B68BDAC}"/>
              </a:ext>
            </a:extLst>
          </p:cNvPr>
          <p:cNvSpPr/>
          <p:nvPr/>
        </p:nvSpPr>
        <p:spPr>
          <a:xfrm>
            <a:off x="8116480" y="3860984"/>
            <a:ext cx="2423160" cy="512064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F1654A-CA73-2E18-5A3B-4B4CB914F4AA}"/>
              </a:ext>
            </a:extLst>
          </p:cNvPr>
          <p:cNvSpPr txBox="1"/>
          <p:nvPr/>
        </p:nvSpPr>
        <p:spPr>
          <a:xfrm>
            <a:off x="8075544" y="3862555"/>
            <a:ext cx="24231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  <a:latin typeface="Aptos"/>
              </a:rPr>
              <a:t>Convert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A87770-1A47-690E-7C26-4B8FA2BFD49C}"/>
              </a:ext>
            </a:extLst>
          </p:cNvPr>
          <p:cNvSpPr txBox="1"/>
          <p:nvPr/>
        </p:nvSpPr>
        <p:spPr>
          <a:xfrm>
            <a:off x="2006347" y="5532120"/>
            <a:ext cx="8595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0" i="1" dirty="0">
                <a:solidFill>
                  <a:srgbClr val="FFFFFF"/>
                </a:solidFill>
                <a:latin typeface="Aptos"/>
              </a:rPr>
              <a:t>We will now move into Salesforce to show the process live and connect this training flow to the system experience.</a:t>
            </a:r>
          </a:p>
        </p:txBody>
      </p:sp>
      <p:pic>
        <p:nvPicPr>
          <p:cNvPr id="2" name="Online Media 1" title="Lead.mp4">
            <a:hlinkClick r:id="" action="ppaction://media"/>
            <a:extLst>
              <a:ext uri="{FF2B5EF4-FFF2-40B4-BE49-F238E27FC236}">
                <a16:creationId xmlns:a16="http://schemas.microsoft.com/office/drawing/2014/main" id="{5796FE67-D722-C2B1-B481-F959269FF35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064416" y="1087849"/>
            <a:ext cx="5120806" cy="210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67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904695"/>
            <a:ext cx="5753405" cy="590702"/>
          </a:xfrm>
          <a:prstGeom prst="roundRect">
            <a:avLst>
              <a:gd name="adj" fmla="val 39948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  <a:effectLst>
            <a:outerShdw blurRad="76200" dist="254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71500" y="1904695"/>
            <a:ext cx="28346" cy="590702"/>
          </a:xfrm>
          <a:prstGeom prst="roundRect">
            <a:avLst>
              <a:gd name="adj" fmla="val 832478"/>
            </a:avLst>
          </a:prstGeom>
          <a:solidFill>
            <a:srgbClr val="2ECC71"/>
          </a:solidFill>
          <a:ln w="12700">
            <a:solidFill>
              <a:srgbClr val="2ECC7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71500" y="2572207"/>
            <a:ext cx="5753405" cy="590702"/>
          </a:xfrm>
          <a:prstGeom prst="roundRect">
            <a:avLst>
              <a:gd name="adj" fmla="val 39948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  <a:effectLst>
            <a:outerShdw blurRad="76200" dist="254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71500" y="2572207"/>
            <a:ext cx="28346" cy="590702"/>
          </a:xfrm>
          <a:prstGeom prst="roundRect">
            <a:avLst>
              <a:gd name="adj" fmla="val 832478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71500" y="3238805"/>
            <a:ext cx="5790895" cy="609905"/>
          </a:xfrm>
          <a:prstGeom prst="roundRect">
            <a:avLst>
              <a:gd name="adj" fmla="val 37481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  <a:effectLst>
            <a:outerShdw blurRad="76200" dist="254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71500" y="3238805"/>
            <a:ext cx="28346" cy="609905"/>
          </a:xfrm>
          <a:prstGeom prst="roundRect">
            <a:avLst>
              <a:gd name="adj" fmla="val 806463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71500" y="3905402"/>
            <a:ext cx="5753405" cy="590702"/>
          </a:xfrm>
          <a:prstGeom prst="roundRect">
            <a:avLst>
              <a:gd name="adj" fmla="val 39948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  <a:effectLst>
            <a:outerShdw blurRad="76200" dist="254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71500" y="3905402"/>
            <a:ext cx="28346" cy="590702"/>
          </a:xfrm>
          <a:prstGeom prst="roundRect">
            <a:avLst>
              <a:gd name="adj" fmla="val 832478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71500" y="5143500"/>
            <a:ext cx="5734202" cy="1162202"/>
          </a:xfrm>
          <a:prstGeom prst="roundRect">
            <a:avLst>
              <a:gd name="adj" fmla="val 10318"/>
            </a:avLst>
          </a:prstGeom>
          <a:solidFill>
            <a:srgbClr val="F5F5F5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048195" y="2286000"/>
            <a:ext cx="4591202" cy="4019702"/>
          </a:xfrm>
          <a:prstGeom prst="rect">
            <a:avLst/>
          </a:prstGeom>
        </p:spPr>
      </p:pic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 l="-405" r="-405"/>
          <a:stretch/>
        </p:blipFill>
        <p:spPr>
          <a:xfrm>
            <a:off x="7810805" y="2667305"/>
            <a:ext cx="38405" cy="3047695"/>
          </a:xfrm>
          <a:prstGeom prst="rect">
            <a:avLst/>
          </a:prstGeom>
        </p:spPr>
      </p:pic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t="-27" b="-27"/>
          <a:stretch/>
        </p:blipFill>
        <p:spPr>
          <a:xfrm>
            <a:off x="7334402" y="3771900"/>
            <a:ext cx="666598" cy="952805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 l="-393" r="-393"/>
          <a:stretch/>
        </p:blipFill>
        <p:spPr>
          <a:xfrm>
            <a:off x="7810805" y="2667305"/>
            <a:ext cx="38405" cy="2095805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 t="6980" b="6980"/>
          <a:stretch/>
        </p:blipFill>
        <p:spPr>
          <a:xfrm>
            <a:off x="571500" y="381305"/>
            <a:ext cx="571500" cy="333756"/>
          </a:xfrm>
          <a:prstGeom prst="rect">
            <a:avLst/>
          </a:prstGeom>
        </p:spPr>
      </p:pic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rcRect l="4905" r="4905"/>
          <a:stretch/>
        </p:blipFill>
        <p:spPr>
          <a:xfrm>
            <a:off x="10668305" y="381305"/>
            <a:ext cx="952805" cy="333756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677302" y="2667305"/>
            <a:ext cx="304495" cy="304495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677302" y="3619195"/>
            <a:ext cx="304495" cy="304495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677302" y="4572000"/>
            <a:ext cx="304495" cy="304495"/>
          </a:xfrm>
          <a:prstGeom prst="rect">
            <a:avLst/>
          </a:prstGeom>
        </p:spPr>
      </p:pic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677302" y="5524805"/>
            <a:ext cx="304495" cy="304495"/>
          </a:xfrm>
          <a:prstGeom prst="rect">
            <a:avLst/>
          </a:prstGeom>
        </p:spPr>
      </p:pic>
      <p:sp>
        <p:nvSpPr>
          <p:cNvPr id="24" name="Text 11"/>
          <p:cNvSpPr txBox="1"/>
          <p:nvPr/>
        </p:nvSpPr>
        <p:spPr>
          <a:xfrm>
            <a:off x="571500" y="1047902"/>
            <a:ext cx="892454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 &amp; hierarchy + account lifecycle</a:t>
            </a:r>
            <a:endParaRPr lang="en-US" sz="2700" dirty="0"/>
          </a:p>
        </p:txBody>
      </p:sp>
      <p:sp>
        <p:nvSpPr>
          <p:cNvPr id="25" name="Text 12"/>
          <p:cNvSpPr txBox="1"/>
          <p:nvPr/>
        </p:nvSpPr>
        <p:spPr>
          <a:xfrm>
            <a:off x="724205" y="2000707"/>
            <a:ext cx="5524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Net-new customer group</a:t>
            </a:r>
            <a:endParaRPr lang="en-US" sz="1000" dirty="0"/>
          </a:p>
        </p:txBody>
      </p:sp>
      <p:sp>
        <p:nvSpPr>
          <p:cNvPr id="26" name="Text 13"/>
          <p:cNvSpPr txBox="1"/>
          <p:nvPr/>
        </p:nvSpPr>
        <p:spPr>
          <a:xfrm>
            <a:off x="724205" y="2200046"/>
            <a:ext cx="5524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2ECC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Parent             </a:t>
            </a: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00" dirty="0">
                <a:solidFill>
                  <a:srgbClr val="2ECC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NxN Child</a:t>
            </a: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Create Opportunity on Child</a:t>
            </a:r>
            <a:endParaRPr lang="en-US" sz="900" dirty="0"/>
          </a:p>
        </p:txBody>
      </p:sp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14"/>
          <a:srcRect l="-1648" r="-1648"/>
          <a:stretch/>
        </p:blipFill>
        <p:spPr>
          <a:xfrm>
            <a:off x="1503274" y="2231136"/>
            <a:ext cx="85954" cy="95098"/>
          </a:xfrm>
          <a:prstGeom prst="rect">
            <a:avLst/>
          </a:prstGeom>
        </p:spPr>
      </p:pic>
      <p:pic>
        <p:nvPicPr>
          <p:cNvPr id="28" name="Image 12" descr="preencoded.png"/>
          <p:cNvPicPr>
            <a:picLocks noChangeAspect="1"/>
          </p:cNvPicPr>
          <p:nvPr/>
        </p:nvPicPr>
        <p:blipFill>
          <a:blip r:embed="rId14"/>
          <a:srcRect l="-1648" r="-1648"/>
          <a:stretch/>
        </p:blipFill>
        <p:spPr>
          <a:xfrm>
            <a:off x="2625518" y="2231136"/>
            <a:ext cx="85954" cy="95098"/>
          </a:xfrm>
          <a:prstGeom prst="rect">
            <a:avLst/>
          </a:prstGeom>
        </p:spPr>
      </p:pic>
      <p:sp>
        <p:nvSpPr>
          <p:cNvPr id="29" name="Text 14"/>
          <p:cNvSpPr txBox="1"/>
          <p:nvPr/>
        </p:nvSpPr>
        <p:spPr>
          <a:xfrm>
            <a:off x="724205" y="2667305"/>
            <a:ext cx="5524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group / no NxN child</a:t>
            </a:r>
            <a:endParaRPr lang="en-US" sz="1000" dirty="0"/>
          </a:p>
        </p:txBody>
      </p:sp>
      <p:sp>
        <p:nvSpPr>
          <p:cNvPr id="30" name="Text 15"/>
          <p:cNvSpPr txBox="1"/>
          <p:nvPr/>
        </p:nvSpPr>
        <p:spPr>
          <a:xfrm>
            <a:off x="724205" y="2866644"/>
            <a:ext cx="5524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 Parent             </a:t>
            </a:r>
            <a:r>
              <a:rPr lang="en-US" sz="900" dirty="0">
                <a:solidFill>
                  <a:srgbClr val="2ECC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NxN Child</a:t>
            </a: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Create Opportunity on Child</a:t>
            </a:r>
            <a:endParaRPr lang="en-US" sz="900" dirty="0"/>
          </a:p>
        </p:txBody>
      </p:sp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14"/>
          <a:srcRect l="-1648" r="-1648"/>
          <a:stretch/>
        </p:blipFill>
        <p:spPr>
          <a:xfrm>
            <a:off x="1512418" y="2897734"/>
            <a:ext cx="85954" cy="95098"/>
          </a:xfrm>
          <a:prstGeom prst="rect">
            <a:avLst/>
          </a:prstGeom>
        </p:spPr>
      </p:pic>
      <p:pic>
        <p:nvPicPr>
          <p:cNvPr id="32" name="Image 14" descr="preencoded.png"/>
          <p:cNvPicPr>
            <a:picLocks noChangeAspect="1"/>
          </p:cNvPicPr>
          <p:nvPr/>
        </p:nvPicPr>
        <p:blipFill>
          <a:blip r:embed="rId14"/>
          <a:srcRect l="-1648" r="-1648"/>
          <a:stretch/>
        </p:blipFill>
        <p:spPr>
          <a:xfrm>
            <a:off x="2609698" y="2897734"/>
            <a:ext cx="85954" cy="95098"/>
          </a:xfrm>
          <a:prstGeom prst="rect">
            <a:avLst/>
          </a:prstGeom>
        </p:spPr>
      </p:pic>
      <p:sp>
        <p:nvSpPr>
          <p:cNvPr id="33" name="Text 16"/>
          <p:cNvSpPr txBox="1"/>
          <p:nvPr/>
        </p:nvSpPr>
        <p:spPr>
          <a:xfrm>
            <a:off x="724205" y="3333902"/>
            <a:ext cx="55632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NxN child customer</a:t>
            </a:r>
            <a:endParaRPr lang="en-US" sz="1000" dirty="0"/>
          </a:p>
        </p:txBody>
      </p:sp>
      <p:sp>
        <p:nvSpPr>
          <p:cNvPr id="34" name="Text 17"/>
          <p:cNvSpPr txBox="1"/>
          <p:nvPr/>
        </p:nvSpPr>
        <p:spPr>
          <a:xfrm>
            <a:off x="724205" y="3534156"/>
            <a:ext cx="55632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 Parent &amp; Child                    </a:t>
            </a:r>
            <a:r>
              <a:rPr lang="en-US" sz="900" dirty="0">
                <a:solidFill>
                  <a:srgbClr val="2ECC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new Opportunity only</a:t>
            </a:r>
            <a:endParaRPr lang="en-US" sz="900" dirty="0"/>
          </a:p>
        </p:txBody>
      </p:sp>
      <p:pic>
        <p:nvPicPr>
          <p:cNvPr id="35" name="Image 15" descr="preencoded.png"/>
          <p:cNvPicPr>
            <a:picLocks noChangeAspect="1"/>
          </p:cNvPicPr>
          <p:nvPr/>
        </p:nvPicPr>
        <p:blipFill>
          <a:blip r:embed="rId14"/>
          <a:srcRect l="-1648" r="-1648"/>
          <a:stretch/>
        </p:blipFill>
        <p:spPr>
          <a:xfrm>
            <a:off x="1927555" y="3564331"/>
            <a:ext cx="85954" cy="95098"/>
          </a:xfrm>
          <a:prstGeom prst="rect">
            <a:avLst/>
          </a:prstGeom>
        </p:spPr>
      </p:pic>
      <p:sp>
        <p:nvSpPr>
          <p:cNvPr id="36" name="Text 18"/>
          <p:cNvSpPr txBox="1"/>
          <p:nvPr/>
        </p:nvSpPr>
        <p:spPr>
          <a:xfrm>
            <a:off x="724205" y="4000500"/>
            <a:ext cx="5524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Partner-led opportunity</a:t>
            </a:r>
            <a:endParaRPr lang="en-US" sz="1000" dirty="0"/>
          </a:p>
        </p:txBody>
      </p:sp>
      <p:sp>
        <p:nvSpPr>
          <p:cNvPr id="37" name="Text 19"/>
          <p:cNvSpPr txBox="1"/>
          <p:nvPr/>
        </p:nvSpPr>
        <p:spPr>
          <a:xfrm>
            <a:off x="724205" y="4200754"/>
            <a:ext cx="5524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Match/create partner structure                      Create opportunity per governance</a:t>
            </a:r>
            <a:endParaRPr lang="en-US" sz="900" dirty="0"/>
          </a:p>
        </p:txBody>
      </p:sp>
      <p:pic>
        <p:nvPicPr>
          <p:cNvPr id="38" name="Image 16" descr="preencoded.png"/>
          <p:cNvPicPr>
            <a:picLocks noChangeAspect="1"/>
          </p:cNvPicPr>
          <p:nvPr/>
        </p:nvPicPr>
        <p:blipFill>
          <a:blip r:embed="rId14"/>
          <a:srcRect l="-1648" r="-1648"/>
          <a:stretch/>
        </p:blipFill>
        <p:spPr>
          <a:xfrm>
            <a:off x="2458822" y="4231843"/>
            <a:ext cx="85954" cy="95098"/>
          </a:xfrm>
          <a:prstGeom prst="rect">
            <a:avLst/>
          </a:prstGeom>
        </p:spPr>
      </p:pic>
      <p:sp>
        <p:nvSpPr>
          <p:cNvPr id="39" name="Text 20"/>
          <p:cNvSpPr txBox="1"/>
          <p:nvPr/>
        </p:nvSpPr>
        <p:spPr>
          <a:xfrm>
            <a:off x="571500" y="4762195"/>
            <a:ext cx="3543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2ECC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 Structure Comparison</a:t>
            </a:r>
            <a:endParaRPr lang="en-US" sz="1000" dirty="0"/>
          </a:p>
        </p:txBody>
      </p:sp>
      <p:sp>
        <p:nvSpPr>
          <p:cNvPr id="40" name="Text 21"/>
          <p:cNvSpPr txBox="1"/>
          <p:nvPr/>
        </p:nvSpPr>
        <p:spPr>
          <a:xfrm>
            <a:off x="761695" y="5333695"/>
            <a:ext cx="17053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7X Parent Account</a:t>
            </a:r>
            <a:endParaRPr lang="en-US" sz="900" dirty="0"/>
          </a:p>
        </p:txBody>
      </p:sp>
      <p:sp>
        <p:nvSpPr>
          <p:cNvPr id="41" name="Text 22"/>
          <p:cNvSpPr txBox="1"/>
          <p:nvPr/>
        </p:nvSpPr>
        <p:spPr>
          <a:xfrm>
            <a:off x="761695" y="5544007"/>
            <a:ext cx="157551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per group. Reporting only. No commercial activity.</a:t>
            </a:r>
            <a:endParaRPr lang="en-US" sz="800" dirty="0"/>
          </a:p>
        </p:txBody>
      </p:sp>
      <p:sp>
        <p:nvSpPr>
          <p:cNvPr id="42" name="Shape 23"/>
          <p:cNvSpPr/>
          <p:nvPr/>
        </p:nvSpPr>
        <p:spPr>
          <a:xfrm>
            <a:off x="2462479" y="5333695"/>
            <a:ext cx="1933956" cy="647395"/>
          </a:xfrm>
          <a:prstGeom prst="roundRect">
            <a:avLst>
              <a:gd name="adj" fmla="val 24925"/>
            </a:avLst>
          </a:prstGeom>
          <a:solidFill>
            <a:srgbClr val="FFFFFF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24"/>
          <p:cNvSpPr txBox="1"/>
          <p:nvPr/>
        </p:nvSpPr>
        <p:spPr>
          <a:xfrm>
            <a:off x="2548433" y="5419649"/>
            <a:ext cx="19531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88C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Entity Child Account</a:t>
            </a:r>
            <a:endParaRPr lang="en-US" sz="900" dirty="0"/>
          </a:p>
        </p:txBody>
      </p:sp>
      <p:sp>
        <p:nvSpPr>
          <p:cNvPr id="44" name="Text 25"/>
          <p:cNvSpPr txBox="1"/>
          <p:nvPr/>
        </p:nvSpPr>
        <p:spPr>
          <a:xfrm>
            <a:off x="2548433" y="5629046"/>
            <a:ext cx="183337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Must reference Parent. </a:t>
            </a:r>
            <a:endParaRPr lang="en-US" sz="800" dirty="0"/>
          </a:p>
          <a:p>
            <a:pPr marL="0" indent="0" algn="l">
              <a:buNone/>
            </a:pPr>
            <a:r>
              <a:rPr lang="en-US" sz="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commercial activity here.</a:t>
            </a:r>
            <a:endParaRPr lang="en-US" sz="800" dirty="0"/>
          </a:p>
        </p:txBody>
      </p:sp>
      <p:sp>
        <p:nvSpPr>
          <p:cNvPr id="45" name="Text 26"/>
          <p:cNvSpPr txBox="1"/>
          <p:nvPr/>
        </p:nvSpPr>
        <p:spPr>
          <a:xfrm>
            <a:off x="4585716" y="5333695"/>
            <a:ext cx="17053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</a:t>
            </a:r>
            <a:endParaRPr lang="en-US" sz="900" dirty="0"/>
          </a:p>
        </p:txBody>
      </p:sp>
      <p:sp>
        <p:nvSpPr>
          <p:cNvPr id="46" name="Text 27"/>
          <p:cNvSpPr txBox="1"/>
          <p:nvPr/>
        </p:nvSpPr>
        <p:spPr>
          <a:xfrm>
            <a:off x="4585716" y="5544007"/>
            <a:ext cx="157551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Stakeholders used for comms &amp; approvals.</a:t>
            </a:r>
            <a:endParaRPr lang="en-US" sz="800" dirty="0"/>
          </a:p>
        </p:txBody>
      </p:sp>
      <p:sp>
        <p:nvSpPr>
          <p:cNvPr id="47" name="Text 28"/>
          <p:cNvSpPr txBox="1"/>
          <p:nvPr/>
        </p:nvSpPr>
        <p:spPr>
          <a:xfrm>
            <a:off x="7048195" y="1904695"/>
            <a:ext cx="2971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2ECC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 Lifecycle</a:t>
            </a:r>
            <a:endParaRPr lang="en-US" sz="1000" dirty="0"/>
          </a:p>
        </p:txBody>
      </p:sp>
      <p:sp>
        <p:nvSpPr>
          <p:cNvPr id="48" name="Text 29"/>
          <p:cNvSpPr txBox="1"/>
          <p:nvPr/>
        </p:nvSpPr>
        <p:spPr>
          <a:xfrm>
            <a:off x="8153705" y="2667305"/>
            <a:ext cx="31629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</a:t>
            </a:r>
            <a:endParaRPr lang="en-US" sz="1200" dirty="0"/>
          </a:p>
        </p:txBody>
      </p:sp>
      <p:sp>
        <p:nvSpPr>
          <p:cNvPr id="49" name="Text 30"/>
          <p:cNvSpPr txBox="1"/>
          <p:nvPr/>
        </p:nvSpPr>
        <p:spPr>
          <a:xfrm>
            <a:off x="8153705" y="2857500"/>
            <a:ext cx="31629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account structure and setup</a:t>
            </a:r>
            <a:endParaRPr lang="en-US" sz="900" dirty="0"/>
          </a:p>
        </p:txBody>
      </p:sp>
      <p:sp>
        <p:nvSpPr>
          <p:cNvPr id="50" name="Text 31"/>
          <p:cNvSpPr txBox="1"/>
          <p:nvPr/>
        </p:nvSpPr>
        <p:spPr>
          <a:xfrm>
            <a:off x="8153705" y="3619195"/>
            <a:ext cx="31629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</a:t>
            </a:r>
            <a:endParaRPr lang="en-US" sz="1200" dirty="0"/>
          </a:p>
        </p:txBody>
      </p:sp>
      <p:sp>
        <p:nvSpPr>
          <p:cNvPr id="51" name="Text 32"/>
          <p:cNvSpPr txBox="1"/>
          <p:nvPr/>
        </p:nvSpPr>
        <p:spPr>
          <a:xfrm>
            <a:off x="8153705" y="3810305"/>
            <a:ext cx="31629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Ongoing commercial relationship</a:t>
            </a:r>
            <a:endParaRPr lang="en-US" sz="900" dirty="0"/>
          </a:p>
        </p:txBody>
      </p:sp>
      <p:sp>
        <p:nvSpPr>
          <p:cNvPr id="52" name="Text 33"/>
          <p:cNvSpPr txBox="1"/>
          <p:nvPr/>
        </p:nvSpPr>
        <p:spPr>
          <a:xfrm>
            <a:off x="8153705" y="4572000"/>
            <a:ext cx="31629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Dormant</a:t>
            </a:r>
            <a:endParaRPr lang="en-US" sz="1200" dirty="0"/>
          </a:p>
        </p:txBody>
      </p:sp>
      <p:sp>
        <p:nvSpPr>
          <p:cNvPr id="53" name="Text 34"/>
          <p:cNvSpPr txBox="1"/>
          <p:nvPr/>
        </p:nvSpPr>
        <p:spPr>
          <a:xfrm>
            <a:off x="8153705" y="4762195"/>
            <a:ext cx="31629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Inactive but retained for future</a:t>
            </a:r>
            <a:endParaRPr lang="en-US" sz="900" dirty="0"/>
          </a:p>
        </p:txBody>
      </p:sp>
      <p:sp>
        <p:nvSpPr>
          <p:cNvPr id="54" name="Text 35"/>
          <p:cNvSpPr txBox="1"/>
          <p:nvPr/>
        </p:nvSpPr>
        <p:spPr>
          <a:xfrm>
            <a:off x="8153705" y="5524805"/>
            <a:ext cx="31629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Blocked</a:t>
            </a:r>
            <a:endParaRPr lang="en-US" sz="1200" dirty="0"/>
          </a:p>
        </p:txBody>
      </p:sp>
      <p:sp>
        <p:nvSpPr>
          <p:cNvPr id="55" name="Text 36"/>
          <p:cNvSpPr txBox="1"/>
          <p:nvPr/>
        </p:nvSpPr>
        <p:spPr>
          <a:xfrm>
            <a:off x="8153705" y="5715000"/>
            <a:ext cx="31629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Restricted from commercial activity</a:t>
            </a:r>
            <a:endParaRPr lang="en-US" sz="900" dirty="0"/>
          </a:p>
        </p:txBody>
      </p:sp>
      <p:sp>
        <p:nvSpPr>
          <p:cNvPr id="56" name="Text 37"/>
          <p:cNvSpPr txBox="1"/>
          <p:nvPr/>
        </p:nvSpPr>
        <p:spPr>
          <a:xfrm>
            <a:off x="6933895" y="4095598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</a:t>
            </a:r>
            <a:endParaRPr lang="en-US" sz="800" dirty="0"/>
          </a:p>
          <a:p>
            <a:pPr marL="0" indent="0" algn="r">
              <a:buNone/>
            </a:pPr>
            <a:r>
              <a:rPr lang="en-US" sz="800" b="1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Active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838C0-8933-AEDC-2D6F-88C299421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7BC2FFE-0E64-AE7A-72DF-BFE5DDFD09A4}"/>
              </a:ext>
            </a:extLst>
          </p:cNvPr>
          <p:cNvSpPr/>
          <p:nvPr/>
        </p:nvSpPr>
        <p:spPr>
          <a:xfrm>
            <a:off x="2" y="0"/>
            <a:ext cx="12192000" cy="6858000"/>
          </a:xfrm>
          <a:prstGeom prst="rect">
            <a:avLst/>
          </a:prstGeom>
          <a:solidFill>
            <a:srgbClr val="0A0D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CDB568F6-F92E-C858-D355-0A761FFB0B66}"/>
              </a:ext>
            </a:extLst>
          </p:cNvPr>
          <p:cNvSpPr/>
          <p:nvPr/>
        </p:nvSpPr>
        <p:spPr>
          <a:xfrm>
            <a:off x="835361" y="381305"/>
            <a:ext cx="10706776" cy="4876495"/>
          </a:xfrm>
          <a:prstGeom prst="roundRect">
            <a:avLst/>
          </a:prstGeom>
          <a:solidFill>
            <a:srgbClr val="111111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8E5213-6DAC-F009-778B-5976C5255BE5}"/>
              </a:ext>
            </a:extLst>
          </p:cNvPr>
          <p:cNvSpPr/>
          <p:nvPr/>
        </p:nvSpPr>
        <p:spPr>
          <a:xfrm>
            <a:off x="1271872" y="1216152"/>
            <a:ext cx="73152" cy="3520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19">
            <a:extLst>
              <a:ext uri="{FF2B5EF4-FFF2-40B4-BE49-F238E27FC236}">
                <a16:creationId xmlns:a16="http://schemas.microsoft.com/office/drawing/2014/main" id="{A649EB18-60D0-73B7-3FAD-B1E3ABC2834C}"/>
              </a:ext>
            </a:extLst>
          </p:cNvPr>
          <p:cNvSpPr/>
          <p:nvPr/>
        </p:nvSpPr>
        <p:spPr>
          <a:xfrm>
            <a:off x="1463896" y="1325880"/>
            <a:ext cx="1874519" cy="43891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579610-2A9A-0017-A8CF-F476BE6708C7}"/>
              </a:ext>
            </a:extLst>
          </p:cNvPr>
          <p:cNvSpPr txBox="1"/>
          <p:nvPr/>
        </p:nvSpPr>
        <p:spPr>
          <a:xfrm>
            <a:off x="1463896" y="1325880"/>
            <a:ext cx="1874519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SALESFORCE DEMO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EC1DD-B8C4-A2CC-4D39-F68BAA77EE07}"/>
              </a:ext>
            </a:extLst>
          </p:cNvPr>
          <p:cNvSpPr txBox="1"/>
          <p:nvPr/>
        </p:nvSpPr>
        <p:spPr>
          <a:xfrm>
            <a:off x="1491328" y="2093193"/>
            <a:ext cx="5669280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500" b="1" dirty="0">
                <a:solidFill>
                  <a:srgbClr val="FFFFFF"/>
                </a:solidFill>
                <a:latin typeface="Aptos Display"/>
              </a:rPr>
              <a:t>Account Demo in Salesforce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787398-3CF2-1BAE-6B58-40E53F32FCE4}"/>
              </a:ext>
            </a:extLst>
          </p:cNvPr>
          <p:cNvSpPr txBox="1"/>
          <p:nvPr/>
        </p:nvSpPr>
        <p:spPr>
          <a:xfrm>
            <a:off x="1548178" y="2656885"/>
            <a:ext cx="4397026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  <a:latin typeface="Aptos"/>
              </a:rPr>
              <a:t>Next, we will show account conversion, hierarchy setup, and lifecycle management directly in Salesforce.</a:t>
            </a:r>
          </a:p>
        </p:txBody>
      </p:sp>
      <p:sp>
        <p:nvSpPr>
          <p:cNvPr id="17" name="Rounded Rectangle 28">
            <a:extLst>
              <a:ext uri="{FF2B5EF4-FFF2-40B4-BE49-F238E27FC236}">
                <a16:creationId xmlns:a16="http://schemas.microsoft.com/office/drawing/2014/main" id="{8D8366BB-0E00-1133-0A3F-63D6F603E5CA}"/>
              </a:ext>
            </a:extLst>
          </p:cNvPr>
          <p:cNvSpPr/>
          <p:nvPr/>
        </p:nvSpPr>
        <p:spPr>
          <a:xfrm>
            <a:off x="1491328" y="3660925"/>
            <a:ext cx="946404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29">
            <a:extLst>
              <a:ext uri="{FF2B5EF4-FFF2-40B4-BE49-F238E27FC236}">
                <a16:creationId xmlns:a16="http://schemas.microsoft.com/office/drawing/2014/main" id="{12C4FB01-C910-85CD-4532-F077E646303D}"/>
              </a:ext>
            </a:extLst>
          </p:cNvPr>
          <p:cNvSpPr/>
          <p:nvPr/>
        </p:nvSpPr>
        <p:spPr>
          <a:xfrm>
            <a:off x="1710784" y="3862555"/>
            <a:ext cx="2423160" cy="512064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6EB3E2-BD36-06B5-0CE4-B935176AF8F9}"/>
              </a:ext>
            </a:extLst>
          </p:cNvPr>
          <p:cNvSpPr txBox="1"/>
          <p:nvPr/>
        </p:nvSpPr>
        <p:spPr>
          <a:xfrm>
            <a:off x="1710784" y="3938716"/>
            <a:ext cx="242316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ptos"/>
              </a:rPr>
              <a:t>Account</a:t>
            </a:r>
          </a:p>
        </p:txBody>
      </p:sp>
      <p:sp>
        <p:nvSpPr>
          <p:cNvPr id="20" name="Chevron 31">
            <a:extLst>
              <a:ext uri="{FF2B5EF4-FFF2-40B4-BE49-F238E27FC236}">
                <a16:creationId xmlns:a16="http://schemas.microsoft.com/office/drawing/2014/main" id="{3B83CE09-33F2-CB56-5D87-1D8B2E47409C}"/>
              </a:ext>
            </a:extLst>
          </p:cNvPr>
          <p:cNvSpPr/>
          <p:nvPr/>
        </p:nvSpPr>
        <p:spPr>
          <a:xfrm>
            <a:off x="4284588" y="3953995"/>
            <a:ext cx="438912" cy="329184"/>
          </a:xfrm>
          <a:prstGeom prst="chevron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32">
            <a:extLst>
              <a:ext uri="{FF2B5EF4-FFF2-40B4-BE49-F238E27FC236}">
                <a16:creationId xmlns:a16="http://schemas.microsoft.com/office/drawing/2014/main" id="{15BCE0C6-5FC5-7D58-1221-C6BD590D9C71}"/>
              </a:ext>
            </a:extLst>
          </p:cNvPr>
          <p:cNvSpPr/>
          <p:nvPr/>
        </p:nvSpPr>
        <p:spPr>
          <a:xfrm>
            <a:off x="4869804" y="3862555"/>
            <a:ext cx="2423160" cy="512064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35EA14-48E4-5171-E5F0-8D0495EAD191}"/>
              </a:ext>
            </a:extLst>
          </p:cNvPr>
          <p:cNvSpPr txBox="1"/>
          <p:nvPr/>
        </p:nvSpPr>
        <p:spPr>
          <a:xfrm>
            <a:off x="4879928" y="3957004"/>
            <a:ext cx="242316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ptos"/>
              </a:rPr>
              <a:t>Structure</a:t>
            </a:r>
          </a:p>
        </p:txBody>
      </p:sp>
      <p:sp>
        <p:nvSpPr>
          <p:cNvPr id="23" name="Chevron 34">
            <a:extLst>
              <a:ext uri="{FF2B5EF4-FFF2-40B4-BE49-F238E27FC236}">
                <a16:creationId xmlns:a16="http://schemas.microsoft.com/office/drawing/2014/main" id="{5CA954B4-7965-0BEF-7C68-9A4BD64E7B5E}"/>
              </a:ext>
            </a:extLst>
          </p:cNvPr>
          <p:cNvSpPr/>
          <p:nvPr/>
        </p:nvSpPr>
        <p:spPr>
          <a:xfrm>
            <a:off x="7490328" y="3953995"/>
            <a:ext cx="438912" cy="329184"/>
          </a:xfrm>
          <a:prstGeom prst="chevron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35">
            <a:extLst>
              <a:ext uri="{FF2B5EF4-FFF2-40B4-BE49-F238E27FC236}">
                <a16:creationId xmlns:a16="http://schemas.microsoft.com/office/drawing/2014/main" id="{B3AEBB3A-54BB-0781-3327-738693827783}"/>
              </a:ext>
            </a:extLst>
          </p:cNvPr>
          <p:cNvSpPr/>
          <p:nvPr/>
        </p:nvSpPr>
        <p:spPr>
          <a:xfrm>
            <a:off x="8116480" y="3860984"/>
            <a:ext cx="2423160" cy="512064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A62DC6-9134-0EDB-2F1A-FA4D1F712680}"/>
              </a:ext>
            </a:extLst>
          </p:cNvPr>
          <p:cNvSpPr txBox="1"/>
          <p:nvPr/>
        </p:nvSpPr>
        <p:spPr>
          <a:xfrm>
            <a:off x="8075544" y="3957004"/>
            <a:ext cx="242316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500" b="1" i="0" dirty="0">
                <a:solidFill>
                  <a:srgbClr val="FFFFFF"/>
                </a:solidFill>
                <a:latin typeface="Aptos"/>
              </a:rPr>
              <a:t>Lifecycle</a:t>
            </a:r>
            <a:endParaRPr sz="15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01877C-AA2B-659D-D029-49C608B3540A}"/>
              </a:ext>
            </a:extLst>
          </p:cNvPr>
          <p:cNvSpPr txBox="1"/>
          <p:nvPr/>
        </p:nvSpPr>
        <p:spPr>
          <a:xfrm>
            <a:off x="2006347" y="5532120"/>
            <a:ext cx="8595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0" i="1" dirty="0">
                <a:solidFill>
                  <a:srgbClr val="FFFFFF"/>
                </a:solidFill>
                <a:latin typeface="Aptos"/>
              </a:rPr>
              <a:t>We will now move into Salesforce to show the process live and connect this training flow to the system experience.</a:t>
            </a:r>
          </a:p>
        </p:txBody>
      </p:sp>
      <p:pic>
        <p:nvPicPr>
          <p:cNvPr id="3" name="Online Media 2" title="Account.mp4">
            <a:hlinkClick r:id="" action="ppaction://media"/>
            <a:extLst>
              <a:ext uri="{FF2B5EF4-FFF2-40B4-BE49-F238E27FC236}">
                <a16:creationId xmlns:a16="http://schemas.microsoft.com/office/drawing/2014/main" id="{43FD82CA-B6FB-C84C-DEF5-C3DB2FFAB86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5757985" y="1056685"/>
            <a:ext cx="5373346" cy="220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32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381305"/>
            <a:ext cx="761695" cy="381305"/>
          </a:xfrm>
          <a:prstGeom prst="roundRect">
            <a:avLst>
              <a:gd name="adj" fmla="val 7194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71500" y="2095805"/>
            <a:ext cx="3258007" cy="4019702"/>
          </a:xfrm>
          <a:prstGeom prst="roundRect">
            <a:avLst>
              <a:gd name="adj" fmla="val 131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190695" y="2095805"/>
            <a:ext cx="3657600" cy="590702"/>
          </a:xfrm>
          <a:prstGeom prst="roundRect">
            <a:avLst>
              <a:gd name="adj" fmla="val 2996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190695" y="2095805"/>
            <a:ext cx="28346" cy="590702"/>
          </a:xfrm>
          <a:prstGeom prst="roundRect">
            <a:avLst>
              <a:gd name="adj" fmla="val 624358"/>
            </a:avLst>
          </a:prstGeom>
          <a:solidFill>
            <a:srgbClr val="2ECC71"/>
          </a:solidFill>
          <a:ln w="12700">
            <a:solidFill>
              <a:srgbClr val="2ECC7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190695" y="2781605"/>
            <a:ext cx="3657600" cy="590702"/>
          </a:xfrm>
          <a:prstGeom prst="roundRect">
            <a:avLst>
              <a:gd name="adj" fmla="val 2996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190695" y="2781605"/>
            <a:ext cx="28346" cy="590702"/>
          </a:xfrm>
          <a:prstGeom prst="roundRect">
            <a:avLst>
              <a:gd name="adj" fmla="val 624358"/>
            </a:avLst>
          </a:prstGeom>
          <a:solidFill>
            <a:srgbClr val="2ECC71"/>
          </a:solidFill>
          <a:ln w="12700">
            <a:solidFill>
              <a:srgbClr val="2ECC7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190695" y="3467405"/>
            <a:ext cx="3657600" cy="590702"/>
          </a:xfrm>
          <a:prstGeom prst="roundRect">
            <a:avLst>
              <a:gd name="adj" fmla="val 2996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190695" y="3467405"/>
            <a:ext cx="28346" cy="590702"/>
          </a:xfrm>
          <a:prstGeom prst="roundRect">
            <a:avLst>
              <a:gd name="adj" fmla="val 624358"/>
            </a:avLst>
          </a:prstGeom>
          <a:solidFill>
            <a:srgbClr val="2ECC71"/>
          </a:solidFill>
          <a:ln w="12700">
            <a:solidFill>
              <a:srgbClr val="2ECC7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190695" y="4153205"/>
            <a:ext cx="3657600" cy="590702"/>
          </a:xfrm>
          <a:prstGeom prst="roundRect">
            <a:avLst>
              <a:gd name="adj" fmla="val 2996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190695" y="4153205"/>
            <a:ext cx="28346" cy="590702"/>
          </a:xfrm>
          <a:prstGeom prst="roundRect">
            <a:avLst>
              <a:gd name="adj" fmla="val 624358"/>
            </a:avLst>
          </a:prstGeom>
          <a:solidFill>
            <a:srgbClr val="2ECC71"/>
          </a:solidFill>
          <a:ln w="12700">
            <a:solidFill>
              <a:srgbClr val="2ECC7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190695" y="4839005"/>
            <a:ext cx="3657600" cy="590702"/>
          </a:xfrm>
          <a:prstGeom prst="roundRect">
            <a:avLst>
              <a:gd name="adj" fmla="val 29961"/>
            </a:avLst>
          </a:prstGeom>
          <a:solidFill>
            <a:srgbClr val="2ECC71">
              <a:alpha val="5000"/>
            </a:srgbClr>
          </a:solidFill>
          <a:ln w="12700">
            <a:solidFill>
              <a:srgbClr val="2ECC7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190695" y="4839005"/>
            <a:ext cx="28346" cy="590702"/>
          </a:xfrm>
          <a:prstGeom prst="roundRect">
            <a:avLst>
              <a:gd name="adj" fmla="val 624358"/>
            </a:avLst>
          </a:prstGeom>
          <a:solidFill>
            <a:srgbClr val="2ECC71"/>
          </a:solidFill>
          <a:ln w="12700">
            <a:solidFill>
              <a:srgbClr val="2ECC7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190695" y="5524805"/>
            <a:ext cx="3657600" cy="590702"/>
          </a:xfrm>
          <a:prstGeom prst="roundRect">
            <a:avLst>
              <a:gd name="adj" fmla="val 29961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190695" y="5524805"/>
            <a:ext cx="28346" cy="590702"/>
          </a:xfrm>
          <a:prstGeom prst="roundRect">
            <a:avLst>
              <a:gd name="adj" fmla="val 624358"/>
            </a:avLst>
          </a:prstGeom>
          <a:solidFill>
            <a:srgbClr val="555555"/>
          </a:solidFill>
          <a:ln w="12700">
            <a:solidFill>
              <a:srgbClr val="5555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191195" y="2095805"/>
            <a:ext cx="3448202" cy="4019702"/>
          </a:xfrm>
          <a:prstGeom prst="roundRect">
            <a:avLst>
              <a:gd name="adj" fmla="val 117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857707" y="2381098"/>
            <a:ext cx="19202" cy="342900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8382305" y="2286000"/>
            <a:ext cx="3066898" cy="1543507"/>
          </a:xfrm>
          <a:prstGeom prst="roundRect">
            <a:avLst>
              <a:gd name="adj" fmla="val 4388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l="-2072" r="-2072"/>
          <a:stretch/>
        </p:blipFill>
        <p:spPr>
          <a:xfrm>
            <a:off x="8953805" y="3952951"/>
            <a:ext cx="1904695" cy="9144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382305" y="4286707"/>
            <a:ext cx="3066898" cy="1543507"/>
          </a:xfrm>
          <a:prstGeom prst="roundRect">
            <a:avLst>
              <a:gd name="adj" fmla="val 4388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819302" y="2381098"/>
            <a:ext cx="95098" cy="9509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819302" y="2952598"/>
            <a:ext cx="95098" cy="9509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819302" y="3524098"/>
            <a:ext cx="95098" cy="9509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819302" y="4095598"/>
            <a:ext cx="95098" cy="9509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819302" y="4667098"/>
            <a:ext cx="95098" cy="9509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819302" y="5333695"/>
            <a:ext cx="95098" cy="9509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819302" y="5715000"/>
            <a:ext cx="95098" cy="9509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rcRect t="13109" b="13109"/>
          <a:stretch/>
        </p:blipFill>
        <p:spPr>
          <a:xfrm>
            <a:off x="666598" y="428854"/>
            <a:ext cx="571500" cy="286207"/>
          </a:xfrm>
          <a:prstGeom prst="rect">
            <a:avLst/>
          </a:prstGeom>
        </p:spPr>
      </p:pic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 l="10528" r="10528"/>
          <a:stretch/>
        </p:blipFill>
        <p:spPr>
          <a:xfrm>
            <a:off x="10668305" y="381305"/>
            <a:ext cx="952805" cy="38130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571500" y="952805"/>
            <a:ext cx="96396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Opportunity flow + stage gates + Quote ≠ Contract</a:t>
            </a:r>
            <a:endParaRPr lang="en-US" sz="2400" dirty="0"/>
          </a:p>
        </p:txBody>
      </p:sp>
      <p:sp>
        <p:nvSpPr>
          <p:cNvPr id="34" name="Text 27"/>
          <p:cNvSpPr txBox="1"/>
          <p:nvPr/>
        </p:nvSpPr>
        <p:spPr>
          <a:xfrm>
            <a:off x="571500" y="1714500"/>
            <a:ext cx="19815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2ECC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Opportunity Stages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1047902" y="2333549"/>
            <a:ext cx="267553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Qualification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1047902" y="2495398"/>
            <a:ext cx="267553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Actionable B2B deal exists</a:t>
            </a:r>
            <a:endParaRPr lang="en-US" sz="900" dirty="0"/>
          </a:p>
        </p:txBody>
      </p:sp>
      <p:sp>
        <p:nvSpPr>
          <p:cNvPr id="37" name="Text 30"/>
          <p:cNvSpPr txBox="1"/>
          <p:nvPr/>
        </p:nvSpPr>
        <p:spPr>
          <a:xfrm>
            <a:off x="1047902" y="2905049"/>
            <a:ext cx="267553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 Definition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1047902" y="3066898"/>
            <a:ext cx="267553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 &amp; dependencies defined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1047902" y="3476549"/>
            <a:ext cx="267553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 &amp; Quotation</a:t>
            </a:r>
            <a:endParaRPr lang="en-US" sz="1000" dirty="0"/>
          </a:p>
        </p:txBody>
      </p:sp>
      <p:sp>
        <p:nvSpPr>
          <p:cNvPr id="40" name="Text 33"/>
          <p:cNvSpPr txBox="1"/>
          <p:nvPr/>
        </p:nvSpPr>
        <p:spPr>
          <a:xfrm>
            <a:off x="1047902" y="3638398"/>
            <a:ext cx="267553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Terms &amp; quote prepared</a:t>
            </a:r>
            <a:endParaRPr lang="en-US" sz="900" dirty="0"/>
          </a:p>
        </p:txBody>
      </p:sp>
      <p:sp>
        <p:nvSpPr>
          <p:cNvPr id="41" name="Text 34"/>
          <p:cNvSpPr txBox="1"/>
          <p:nvPr/>
        </p:nvSpPr>
        <p:spPr>
          <a:xfrm>
            <a:off x="1047902" y="4048049"/>
            <a:ext cx="267553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Review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1047902" y="4209898"/>
            <a:ext cx="267553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Negotiation &amp; cycles</a:t>
            </a:r>
            <a:endParaRPr lang="en-US" sz="900" dirty="0"/>
          </a:p>
        </p:txBody>
      </p:sp>
      <p:sp>
        <p:nvSpPr>
          <p:cNvPr id="43" name="Text 36"/>
          <p:cNvSpPr txBox="1"/>
          <p:nvPr/>
        </p:nvSpPr>
        <p:spPr>
          <a:xfrm>
            <a:off x="1047902" y="4619549"/>
            <a:ext cx="267553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Contracting</a:t>
            </a:r>
            <a:endParaRPr lang="en-US" sz="1000" dirty="0"/>
          </a:p>
        </p:txBody>
      </p:sp>
      <p:sp>
        <p:nvSpPr>
          <p:cNvPr id="44" name="Text 37"/>
          <p:cNvSpPr txBox="1"/>
          <p:nvPr/>
        </p:nvSpPr>
        <p:spPr>
          <a:xfrm>
            <a:off x="1047902" y="4781398"/>
            <a:ext cx="267553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Binding agreement ready</a:t>
            </a:r>
            <a:endParaRPr lang="en-US" sz="900" dirty="0"/>
          </a:p>
        </p:txBody>
      </p:sp>
      <p:sp>
        <p:nvSpPr>
          <p:cNvPr id="45" name="Text 38"/>
          <p:cNvSpPr txBox="1"/>
          <p:nvPr/>
        </p:nvSpPr>
        <p:spPr>
          <a:xfrm>
            <a:off x="1047902" y="5286146"/>
            <a:ext cx="1314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CC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 Won</a:t>
            </a:r>
            <a:endParaRPr lang="en-US" sz="1000" dirty="0"/>
          </a:p>
        </p:txBody>
      </p:sp>
      <p:sp>
        <p:nvSpPr>
          <p:cNvPr id="46" name="Text 39"/>
          <p:cNvSpPr txBox="1"/>
          <p:nvPr/>
        </p:nvSpPr>
        <p:spPr>
          <a:xfrm>
            <a:off x="1047902" y="5447995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Accepted offer</a:t>
            </a:r>
            <a:endParaRPr lang="en-US" sz="900" dirty="0"/>
          </a:p>
        </p:txBody>
      </p:sp>
      <p:sp>
        <p:nvSpPr>
          <p:cNvPr id="47" name="Text 40"/>
          <p:cNvSpPr txBox="1"/>
          <p:nvPr/>
        </p:nvSpPr>
        <p:spPr>
          <a:xfrm>
            <a:off x="1047902" y="5667451"/>
            <a:ext cx="1314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 Lost</a:t>
            </a:r>
            <a:endParaRPr lang="en-US" sz="1000" dirty="0"/>
          </a:p>
        </p:txBody>
      </p:sp>
      <p:sp>
        <p:nvSpPr>
          <p:cNvPr id="48" name="Text 41"/>
          <p:cNvSpPr txBox="1"/>
          <p:nvPr/>
        </p:nvSpPr>
        <p:spPr>
          <a:xfrm>
            <a:off x="1047902" y="5829300"/>
            <a:ext cx="147492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viable/selected</a:t>
            </a:r>
            <a:endParaRPr lang="en-US" sz="900" dirty="0"/>
          </a:p>
        </p:txBody>
      </p:sp>
      <p:sp>
        <p:nvSpPr>
          <p:cNvPr id="49" name="Text 42"/>
          <p:cNvSpPr txBox="1"/>
          <p:nvPr/>
        </p:nvSpPr>
        <p:spPr>
          <a:xfrm>
            <a:off x="4190695" y="1714500"/>
            <a:ext cx="19815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2ECC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Gate Readiness</a:t>
            </a:r>
            <a:endParaRPr lang="en-US" sz="1000" dirty="0"/>
          </a:p>
        </p:txBody>
      </p:sp>
      <p:sp>
        <p:nvSpPr>
          <p:cNvPr id="50" name="Text 43"/>
          <p:cNvSpPr txBox="1"/>
          <p:nvPr/>
        </p:nvSpPr>
        <p:spPr>
          <a:xfrm>
            <a:off x="4343400" y="2171700"/>
            <a:ext cx="34482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Solution Definition</a:t>
            </a:r>
            <a:endParaRPr lang="en-US" sz="900" dirty="0"/>
          </a:p>
        </p:txBody>
      </p:sp>
      <p:sp>
        <p:nvSpPr>
          <p:cNvPr id="51" name="Text 44"/>
          <p:cNvSpPr txBox="1"/>
          <p:nvPr/>
        </p:nvSpPr>
        <p:spPr>
          <a:xfrm>
            <a:off x="4343400" y="2333549"/>
            <a:ext cx="34482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Contact + Next Step + basic scope</a:t>
            </a:r>
            <a:endParaRPr lang="en-US" sz="800" dirty="0"/>
          </a:p>
        </p:txBody>
      </p:sp>
      <p:sp>
        <p:nvSpPr>
          <p:cNvPr id="52" name="Text 45"/>
          <p:cNvSpPr txBox="1"/>
          <p:nvPr/>
        </p:nvSpPr>
        <p:spPr>
          <a:xfrm>
            <a:off x="4343400" y="2857500"/>
            <a:ext cx="34482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Pricing &amp; Quotation</a:t>
            </a:r>
            <a:endParaRPr lang="en-US" sz="900" dirty="0"/>
          </a:p>
        </p:txBody>
      </p:sp>
      <p:sp>
        <p:nvSpPr>
          <p:cNvPr id="53" name="Text 46"/>
          <p:cNvSpPr txBox="1"/>
          <p:nvPr/>
        </p:nvSpPr>
        <p:spPr>
          <a:xfrm>
            <a:off x="4343400" y="3019349"/>
            <a:ext cx="34482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Products/services + pricing basis + stakeholders</a:t>
            </a:r>
            <a:endParaRPr lang="en-US" sz="800" dirty="0"/>
          </a:p>
        </p:txBody>
      </p:sp>
      <p:sp>
        <p:nvSpPr>
          <p:cNvPr id="54" name="Text 47"/>
          <p:cNvSpPr txBox="1"/>
          <p:nvPr/>
        </p:nvSpPr>
        <p:spPr>
          <a:xfrm>
            <a:off x="4343400" y="3543300"/>
            <a:ext cx="34482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Customer Review</a:t>
            </a:r>
            <a:endParaRPr lang="en-US" sz="900" dirty="0"/>
          </a:p>
        </p:txBody>
      </p:sp>
      <p:sp>
        <p:nvSpPr>
          <p:cNvPr id="55" name="Text 48"/>
          <p:cNvSpPr txBox="1"/>
          <p:nvPr/>
        </p:nvSpPr>
        <p:spPr>
          <a:xfrm>
            <a:off x="4343400" y="3705149"/>
            <a:ext cx="34482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quote + discount approvals + terms</a:t>
            </a:r>
            <a:endParaRPr lang="en-US" sz="800" dirty="0"/>
          </a:p>
        </p:txBody>
      </p:sp>
      <p:sp>
        <p:nvSpPr>
          <p:cNvPr id="56" name="Text 49"/>
          <p:cNvSpPr txBox="1"/>
          <p:nvPr/>
        </p:nvSpPr>
        <p:spPr>
          <a:xfrm>
            <a:off x="4343400" y="4229100"/>
            <a:ext cx="34482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Contracting</a:t>
            </a:r>
            <a:endParaRPr lang="en-US" sz="900" dirty="0"/>
          </a:p>
        </p:txBody>
      </p:sp>
      <p:sp>
        <p:nvSpPr>
          <p:cNvPr id="57" name="Text 50"/>
          <p:cNvSpPr txBox="1"/>
          <p:nvPr/>
        </p:nvSpPr>
        <p:spPr>
          <a:xfrm>
            <a:off x="4343400" y="4390949"/>
            <a:ext cx="34482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quote/basis + customer alignment</a:t>
            </a:r>
            <a:endParaRPr lang="en-US" sz="800" dirty="0"/>
          </a:p>
        </p:txBody>
      </p:sp>
      <p:sp>
        <p:nvSpPr>
          <p:cNvPr id="58" name="Text 51"/>
          <p:cNvSpPr txBox="1"/>
          <p:nvPr/>
        </p:nvSpPr>
        <p:spPr>
          <a:xfrm>
            <a:off x="4343400" y="4914900"/>
            <a:ext cx="34482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CC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Won</a:t>
            </a:r>
            <a:endParaRPr lang="en-US" sz="900" dirty="0"/>
          </a:p>
        </p:txBody>
      </p:sp>
      <p:sp>
        <p:nvSpPr>
          <p:cNvPr id="59" name="Text 52"/>
          <p:cNvSpPr txBox="1"/>
          <p:nvPr/>
        </p:nvSpPr>
        <p:spPr>
          <a:xfrm>
            <a:off x="4343400" y="5076749"/>
            <a:ext cx="34482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Signed contract / approved acceptance evidence</a:t>
            </a:r>
            <a:endParaRPr lang="en-US" sz="800" dirty="0"/>
          </a:p>
        </p:txBody>
      </p:sp>
      <p:sp>
        <p:nvSpPr>
          <p:cNvPr id="60" name="Text 53"/>
          <p:cNvSpPr txBox="1"/>
          <p:nvPr/>
        </p:nvSpPr>
        <p:spPr>
          <a:xfrm>
            <a:off x="4343400" y="5600700"/>
            <a:ext cx="34482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Lost</a:t>
            </a:r>
            <a:endParaRPr lang="en-US" sz="900" dirty="0"/>
          </a:p>
        </p:txBody>
      </p:sp>
      <p:sp>
        <p:nvSpPr>
          <p:cNvPr id="61" name="Text 54"/>
          <p:cNvSpPr txBox="1"/>
          <p:nvPr/>
        </p:nvSpPr>
        <p:spPr>
          <a:xfrm>
            <a:off x="4343400" y="5762549"/>
            <a:ext cx="34482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Loss reason mandatory</a:t>
            </a:r>
            <a:endParaRPr lang="en-US" sz="800" dirty="0"/>
          </a:p>
        </p:txBody>
      </p:sp>
      <p:sp>
        <p:nvSpPr>
          <p:cNvPr id="62" name="Text 55"/>
          <p:cNvSpPr txBox="1"/>
          <p:nvPr/>
        </p:nvSpPr>
        <p:spPr>
          <a:xfrm>
            <a:off x="8191195" y="1714500"/>
            <a:ext cx="19815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2ECC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Quote ≠ Contract</a:t>
            </a:r>
            <a:endParaRPr lang="en-US" sz="1000" dirty="0"/>
          </a:p>
        </p:txBody>
      </p:sp>
      <p:pic>
        <p:nvPicPr>
          <p:cNvPr id="63" name="Image 5" descr="preencoded.png"/>
          <p:cNvPicPr>
            <a:picLocks noChangeAspect="1"/>
          </p:cNvPicPr>
          <p:nvPr/>
        </p:nvPicPr>
        <p:blipFill>
          <a:blip r:embed="rId8"/>
          <a:srcRect t="-100" b="-100"/>
          <a:stretch/>
        </p:blipFill>
        <p:spPr>
          <a:xfrm>
            <a:off x="8572500" y="2495398"/>
            <a:ext cx="114300" cy="152705"/>
          </a:xfrm>
          <a:prstGeom prst="rect">
            <a:avLst/>
          </a:prstGeom>
        </p:spPr>
      </p:pic>
      <p:sp>
        <p:nvSpPr>
          <p:cNvPr id="64" name="Text 56"/>
          <p:cNvSpPr txBox="1"/>
          <p:nvPr/>
        </p:nvSpPr>
        <p:spPr>
          <a:xfrm>
            <a:off x="8781898" y="2476195"/>
            <a:ext cx="534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Quote</a:t>
            </a:r>
            <a:endParaRPr lang="en-US" sz="1200" dirty="0"/>
          </a:p>
        </p:txBody>
      </p:sp>
      <p:sp>
        <p:nvSpPr>
          <p:cNvPr id="65" name="Text 57"/>
          <p:cNvSpPr txBox="1"/>
          <p:nvPr/>
        </p:nvSpPr>
        <p:spPr>
          <a:xfrm>
            <a:off x="8725205" y="2781605"/>
            <a:ext cx="26151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offer &amp; scope</a:t>
            </a:r>
            <a:endParaRPr lang="en-US" sz="900" dirty="0"/>
          </a:p>
        </p:txBody>
      </p:sp>
      <p:sp>
        <p:nvSpPr>
          <p:cNvPr id="66" name="Text 58"/>
          <p:cNvSpPr txBox="1"/>
          <p:nvPr/>
        </p:nvSpPr>
        <p:spPr>
          <a:xfrm>
            <a:off x="8725205" y="2979115"/>
            <a:ext cx="26151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 and discount approvals</a:t>
            </a:r>
            <a:endParaRPr lang="en-US" sz="900" dirty="0"/>
          </a:p>
        </p:txBody>
      </p:sp>
      <p:sp>
        <p:nvSpPr>
          <p:cNvPr id="67" name="Text 59"/>
          <p:cNvSpPr txBox="1"/>
          <p:nvPr/>
        </p:nvSpPr>
        <p:spPr>
          <a:xfrm>
            <a:off x="8725205" y="3177540"/>
            <a:ext cx="262707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control during negotiation</a:t>
            </a:r>
            <a:endParaRPr lang="en-US" sz="900" dirty="0"/>
          </a:p>
        </p:txBody>
      </p:sp>
      <p:sp>
        <p:nvSpPr>
          <p:cNvPr id="68" name="Text 60"/>
          <p:cNvSpPr txBox="1"/>
          <p:nvPr/>
        </p:nvSpPr>
        <p:spPr>
          <a:xfrm>
            <a:off x="9576511" y="3877056"/>
            <a:ext cx="668426" cy="143561"/>
          </a:xfrm>
          <a:prstGeom prst="rect">
            <a:avLst/>
          </a:prstGeom>
          <a:solidFill>
            <a:srgbClr val="0A0D0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0" rIns="10160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NOT</a:t>
            </a:r>
            <a:endParaRPr lang="en-US" sz="900" dirty="0"/>
          </a:p>
        </p:txBody>
      </p:sp>
      <p:pic>
        <p:nvPicPr>
          <p:cNvPr id="69" name="Image 6" descr="preencoded.png"/>
          <p:cNvPicPr>
            <a:picLocks noChangeAspect="1"/>
          </p:cNvPicPr>
          <p:nvPr/>
        </p:nvPicPr>
        <p:blipFill>
          <a:blip r:embed="rId9"/>
          <a:srcRect l="-33" r="-33"/>
          <a:stretch/>
        </p:blipFill>
        <p:spPr>
          <a:xfrm>
            <a:off x="8572500" y="4496105"/>
            <a:ext cx="171907" cy="152705"/>
          </a:xfrm>
          <a:prstGeom prst="rect">
            <a:avLst/>
          </a:prstGeom>
        </p:spPr>
      </p:pic>
      <p:sp>
        <p:nvSpPr>
          <p:cNvPr id="70" name="Text 61"/>
          <p:cNvSpPr txBox="1"/>
          <p:nvPr/>
        </p:nvSpPr>
        <p:spPr>
          <a:xfrm>
            <a:off x="8839505" y="4476902"/>
            <a:ext cx="782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</a:t>
            </a:r>
            <a:endParaRPr lang="en-US" sz="1200" dirty="0"/>
          </a:p>
        </p:txBody>
      </p:sp>
      <p:sp>
        <p:nvSpPr>
          <p:cNvPr id="71" name="Text 62"/>
          <p:cNvSpPr txBox="1"/>
          <p:nvPr/>
        </p:nvSpPr>
        <p:spPr>
          <a:xfrm>
            <a:off x="8725205" y="4781398"/>
            <a:ext cx="26151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 / binding agreement</a:t>
            </a:r>
            <a:endParaRPr lang="en-US" sz="900" dirty="0"/>
          </a:p>
        </p:txBody>
      </p:sp>
      <p:sp>
        <p:nvSpPr>
          <p:cNvPr id="72" name="Text 63"/>
          <p:cNvSpPr txBox="1"/>
          <p:nvPr/>
        </p:nvSpPr>
        <p:spPr>
          <a:xfrm>
            <a:off x="8725205" y="4979822"/>
            <a:ext cx="26151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lifecycle status</a:t>
            </a:r>
            <a:endParaRPr lang="en-US" sz="900" dirty="0"/>
          </a:p>
        </p:txBody>
      </p:sp>
      <p:sp>
        <p:nvSpPr>
          <p:cNvPr id="73" name="Text 64"/>
          <p:cNvSpPr txBox="1"/>
          <p:nvPr/>
        </p:nvSpPr>
        <p:spPr>
          <a:xfrm>
            <a:off x="8725205" y="5177333"/>
            <a:ext cx="26151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 before activation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C881A-DB7E-54B9-6D53-339C16DCC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E153E7C-3D01-AF2B-B0A7-6D3670400948}"/>
              </a:ext>
            </a:extLst>
          </p:cNvPr>
          <p:cNvSpPr/>
          <p:nvPr/>
        </p:nvSpPr>
        <p:spPr>
          <a:xfrm>
            <a:off x="2" y="0"/>
            <a:ext cx="12192000" cy="6858000"/>
          </a:xfrm>
          <a:prstGeom prst="rect">
            <a:avLst/>
          </a:prstGeom>
          <a:solidFill>
            <a:srgbClr val="0A0D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EDDC3762-4F77-6115-DA69-69E4057F3A6D}"/>
              </a:ext>
            </a:extLst>
          </p:cNvPr>
          <p:cNvSpPr/>
          <p:nvPr/>
        </p:nvSpPr>
        <p:spPr>
          <a:xfrm>
            <a:off x="835361" y="381305"/>
            <a:ext cx="10706776" cy="4876495"/>
          </a:xfrm>
          <a:prstGeom prst="roundRect">
            <a:avLst/>
          </a:prstGeom>
          <a:solidFill>
            <a:srgbClr val="111111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14B56E-F973-DB4F-D787-DA8F38DFFC9A}"/>
              </a:ext>
            </a:extLst>
          </p:cNvPr>
          <p:cNvSpPr/>
          <p:nvPr/>
        </p:nvSpPr>
        <p:spPr>
          <a:xfrm>
            <a:off x="1271872" y="1216152"/>
            <a:ext cx="73152" cy="3520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19">
            <a:extLst>
              <a:ext uri="{FF2B5EF4-FFF2-40B4-BE49-F238E27FC236}">
                <a16:creationId xmlns:a16="http://schemas.microsoft.com/office/drawing/2014/main" id="{54065E45-0DC3-ADB0-795B-8BA4D503DC20}"/>
              </a:ext>
            </a:extLst>
          </p:cNvPr>
          <p:cNvSpPr/>
          <p:nvPr/>
        </p:nvSpPr>
        <p:spPr>
          <a:xfrm>
            <a:off x="1463896" y="1325880"/>
            <a:ext cx="1874519" cy="43891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DD0407-311E-38C3-1239-3E1E201C29AF}"/>
              </a:ext>
            </a:extLst>
          </p:cNvPr>
          <p:cNvSpPr txBox="1"/>
          <p:nvPr/>
        </p:nvSpPr>
        <p:spPr>
          <a:xfrm>
            <a:off x="1463896" y="1325880"/>
            <a:ext cx="1874519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SALESFORCE DEMO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5C277B-0DB9-589B-D9D3-BCFE7C5BCF72}"/>
              </a:ext>
            </a:extLst>
          </p:cNvPr>
          <p:cNvSpPr txBox="1"/>
          <p:nvPr/>
        </p:nvSpPr>
        <p:spPr>
          <a:xfrm>
            <a:off x="1491328" y="2093193"/>
            <a:ext cx="5669280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500" b="1" dirty="0">
                <a:solidFill>
                  <a:srgbClr val="FFFFFF"/>
                </a:solidFill>
                <a:latin typeface="Aptos Display"/>
              </a:rPr>
              <a:t>Opportunity, Quote &amp; Contract Demo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A4CE6E-19A0-C32C-2581-BC39E421563B}"/>
              </a:ext>
            </a:extLst>
          </p:cNvPr>
          <p:cNvSpPr txBox="1"/>
          <p:nvPr/>
        </p:nvSpPr>
        <p:spPr>
          <a:xfrm>
            <a:off x="1548178" y="2656885"/>
            <a:ext cx="4937463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  <a:latin typeface="Aptos"/>
              </a:rPr>
              <a:t>Finally, we will walk through how opportunities progress into quotation and contract readiness in Salesforce.</a:t>
            </a:r>
          </a:p>
        </p:txBody>
      </p:sp>
      <p:sp>
        <p:nvSpPr>
          <p:cNvPr id="17" name="Rounded Rectangle 28">
            <a:extLst>
              <a:ext uri="{FF2B5EF4-FFF2-40B4-BE49-F238E27FC236}">
                <a16:creationId xmlns:a16="http://schemas.microsoft.com/office/drawing/2014/main" id="{FD0BC6CA-96BB-83AB-B22C-2BAEEB4B992C}"/>
              </a:ext>
            </a:extLst>
          </p:cNvPr>
          <p:cNvSpPr/>
          <p:nvPr/>
        </p:nvSpPr>
        <p:spPr>
          <a:xfrm>
            <a:off x="1491328" y="3660925"/>
            <a:ext cx="946404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29">
            <a:extLst>
              <a:ext uri="{FF2B5EF4-FFF2-40B4-BE49-F238E27FC236}">
                <a16:creationId xmlns:a16="http://schemas.microsoft.com/office/drawing/2014/main" id="{5D29D7E0-3E3E-7DB8-80B2-ECAEC4581AD4}"/>
              </a:ext>
            </a:extLst>
          </p:cNvPr>
          <p:cNvSpPr/>
          <p:nvPr/>
        </p:nvSpPr>
        <p:spPr>
          <a:xfrm>
            <a:off x="1710784" y="3862555"/>
            <a:ext cx="2423160" cy="512064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471BAE-4526-FA03-034E-D090CBFEF082}"/>
              </a:ext>
            </a:extLst>
          </p:cNvPr>
          <p:cNvSpPr txBox="1"/>
          <p:nvPr/>
        </p:nvSpPr>
        <p:spPr>
          <a:xfrm>
            <a:off x="1710784" y="3938716"/>
            <a:ext cx="242316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ptos"/>
              </a:rPr>
              <a:t>Opportunity</a:t>
            </a:r>
          </a:p>
        </p:txBody>
      </p:sp>
      <p:sp>
        <p:nvSpPr>
          <p:cNvPr id="20" name="Chevron 31">
            <a:extLst>
              <a:ext uri="{FF2B5EF4-FFF2-40B4-BE49-F238E27FC236}">
                <a16:creationId xmlns:a16="http://schemas.microsoft.com/office/drawing/2014/main" id="{195BF0E0-D789-236B-FE80-A16674DA4074}"/>
              </a:ext>
            </a:extLst>
          </p:cNvPr>
          <p:cNvSpPr/>
          <p:nvPr/>
        </p:nvSpPr>
        <p:spPr>
          <a:xfrm>
            <a:off x="4284588" y="3953995"/>
            <a:ext cx="438912" cy="329184"/>
          </a:xfrm>
          <a:prstGeom prst="chevron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32">
            <a:extLst>
              <a:ext uri="{FF2B5EF4-FFF2-40B4-BE49-F238E27FC236}">
                <a16:creationId xmlns:a16="http://schemas.microsoft.com/office/drawing/2014/main" id="{93FDC5A6-BFE7-582F-CD7A-3F220C81EC22}"/>
              </a:ext>
            </a:extLst>
          </p:cNvPr>
          <p:cNvSpPr/>
          <p:nvPr/>
        </p:nvSpPr>
        <p:spPr>
          <a:xfrm>
            <a:off x="4869804" y="3862555"/>
            <a:ext cx="2423160" cy="512064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758DD1-C39E-AB43-A49D-C2893663CA7F}"/>
              </a:ext>
            </a:extLst>
          </p:cNvPr>
          <p:cNvSpPr txBox="1"/>
          <p:nvPr/>
        </p:nvSpPr>
        <p:spPr>
          <a:xfrm>
            <a:off x="4879928" y="3957004"/>
            <a:ext cx="242316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ptos"/>
              </a:rPr>
              <a:t>Quote</a:t>
            </a:r>
          </a:p>
        </p:txBody>
      </p:sp>
      <p:sp>
        <p:nvSpPr>
          <p:cNvPr id="23" name="Chevron 34">
            <a:extLst>
              <a:ext uri="{FF2B5EF4-FFF2-40B4-BE49-F238E27FC236}">
                <a16:creationId xmlns:a16="http://schemas.microsoft.com/office/drawing/2014/main" id="{8FF2884A-6043-3778-A7DA-F2702A36B512}"/>
              </a:ext>
            </a:extLst>
          </p:cNvPr>
          <p:cNvSpPr/>
          <p:nvPr/>
        </p:nvSpPr>
        <p:spPr>
          <a:xfrm>
            <a:off x="7490328" y="3953995"/>
            <a:ext cx="438912" cy="329184"/>
          </a:xfrm>
          <a:prstGeom prst="chevron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35">
            <a:extLst>
              <a:ext uri="{FF2B5EF4-FFF2-40B4-BE49-F238E27FC236}">
                <a16:creationId xmlns:a16="http://schemas.microsoft.com/office/drawing/2014/main" id="{C4E068DE-3CE7-CC9B-D493-C40525BF8DA8}"/>
              </a:ext>
            </a:extLst>
          </p:cNvPr>
          <p:cNvSpPr/>
          <p:nvPr/>
        </p:nvSpPr>
        <p:spPr>
          <a:xfrm>
            <a:off x="8116480" y="3860984"/>
            <a:ext cx="2423160" cy="512064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FEC741-B025-E6C3-C6A8-1A62822BD6DD}"/>
              </a:ext>
            </a:extLst>
          </p:cNvPr>
          <p:cNvSpPr txBox="1"/>
          <p:nvPr/>
        </p:nvSpPr>
        <p:spPr>
          <a:xfrm>
            <a:off x="8075544" y="3957004"/>
            <a:ext cx="242316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500" b="1" i="0" dirty="0">
                <a:solidFill>
                  <a:srgbClr val="FFFFFF"/>
                </a:solidFill>
                <a:latin typeface="Aptos"/>
              </a:rPr>
              <a:t>Contract</a:t>
            </a:r>
            <a:endParaRPr sz="15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3E2DEF-9508-BA87-26AA-EE7B2DD8E63B}"/>
              </a:ext>
            </a:extLst>
          </p:cNvPr>
          <p:cNvSpPr txBox="1"/>
          <p:nvPr/>
        </p:nvSpPr>
        <p:spPr>
          <a:xfrm>
            <a:off x="2006347" y="5532120"/>
            <a:ext cx="8595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0" i="1" dirty="0">
                <a:solidFill>
                  <a:srgbClr val="FFFFFF"/>
                </a:solidFill>
                <a:latin typeface="Aptos"/>
              </a:rPr>
              <a:t>We will now move into Salesforce to show the process live and connect this training flow to the system experience.</a:t>
            </a:r>
          </a:p>
        </p:txBody>
      </p:sp>
      <p:pic>
        <p:nvPicPr>
          <p:cNvPr id="3" name="Online Media 2" title="Opp.mov">
            <a:hlinkClick r:id="" action="ppaction://media"/>
            <a:extLst>
              <a:ext uri="{FF2B5EF4-FFF2-40B4-BE49-F238E27FC236}">
                <a16:creationId xmlns:a16="http://schemas.microsoft.com/office/drawing/2014/main" id="{69951D84-4B36-FAB1-B12A-A781CB4BCA4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615643" y="1231617"/>
            <a:ext cx="4760381" cy="194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765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809598"/>
            <a:ext cx="3276295" cy="780898"/>
          </a:xfrm>
          <a:prstGeom prst="roundRect">
            <a:avLst>
              <a:gd name="adj" fmla="val 22848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  <a:effectLst>
            <a:outerShdw blurRad="76200" dist="254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71500" y="1809598"/>
            <a:ext cx="28346" cy="780898"/>
          </a:xfrm>
          <a:prstGeom prst="roundRect">
            <a:avLst>
              <a:gd name="adj" fmla="val 629435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71500" y="2667305"/>
            <a:ext cx="3276295" cy="780898"/>
          </a:xfrm>
          <a:prstGeom prst="roundRect">
            <a:avLst>
              <a:gd name="adj" fmla="val 22848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  <a:effectLst>
            <a:outerShdw blurRad="76200" dist="254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71500" y="2667305"/>
            <a:ext cx="28346" cy="780898"/>
          </a:xfrm>
          <a:prstGeom prst="roundRect">
            <a:avLst>
              <a:gd name="adj" fmla="val 629435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71500" y="3524098"/>
            <a:ext cx="3276295" cy="780898"/>
          </a:xfrm>
          <a:prstGeom prst="roundRect">
            <a:avLst>
              <a:gd name="adj" fmla="val 22848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  <a:effectLst>
            <a:outerShdw blurRad="76200" dist="254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71500" y="3524098"/>
            <a:ext cx="28346" cy="780898"/>
          </a:xfrm>
          <a:prstGeom prst="roundRect">
            <a:avLst>
              <a:gd name="adj" fmla="val 629435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190695" y="1809598"/>
            <a:ext cx="7448702" cy="2495398"/>
          </a:xfrm>
          <a:prstGeom prst="roundRect">
            <a:avLst>
              <a:gd name="adj" fmla="val 2238"/>
            </a:avLst>
          </a:prstGeom>
          <a:solidFill>
            <a:srgbClr val="F5F5F5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71500" y="4762195"/>
            <a:ext cx="11067898" cy="972007"/>
          </a:xfrm>
          <a:prstGeom prst="roundRect">
            <a:avLst>
              <a:gd name="adj" fmla="val 14757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71500" y="5905195"/>
            <a:ext cx="11048695" cy="381305"/>
          </a:xfrm>
          <a:prstGeom prst="roundRect">
            <a:avLst>
              <a:gd name="adj" fmla="val 47962"/>
            </a:avLst>
          </a:prstGeom>
          <a:solidFill>
            <a:srgbClr val="2ECC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381805" y="2000707"/>
            <a:ext cx="2210105" cy="590702"/>
          </a:xfrm>
          <a:prstGeom prst="roundRect">
            <a:avLst>
              <a:gd name="adj" fmla="val 29961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762902" y="2000707"/>
            <a:ext cx="2210105" cy="590702"/>
          </a:xfrm>
          <a:prstGeom prst="roundRect">
            <a:avLst>
              <a:gd name="adj" fmla="val 29961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9144000" y="2000707"/>
            <a:ext cx="2210105" cy="590702"/>
          </a:xfrm>
          <a:prstGeom prst="roundRect">
            <a:avLst>
              <a:gd name="adj" fmla="val 29961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381805" y="2762402"/>
            <a:ext cx="2210105" cy="590702"/>
          </a:xfrm>
          <a:prstGeom prst="roundRect">
            <a:avLst>
              <a:gd name="adj" fmla="val 29961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762902" y="2762402"/>
            <a:ext cx="2210105" cy="590702"/>
          </a:xfrm>
          <a:prstGeom prst="roundRect">
            <a:avLst>
              <a:gd name="adj" fmla="val 29961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9144000" y="2762402"/>
            <a:ext cx="2210105" cy="590702"/>
          </a:xfrm>
          <a:prstGeom prst="roundRect">
            <a:avLst>
              <a:gd name="adj" fmla="val 29961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381805" y="3524098"/>
            <a:ext cx="3400654" cy="590702"/>
          </a:xfrm>
          <a:prstGeom prst="roundRect">
            <a:avLst>
              <a:gd name="adj" fmla="val 29961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953451" y="3524098"/>
            <a:ext cx="3400654" cy="590702"/>
          </a:xfrm>
          <a:prstGeom prst="roundRect">
            <a:avLst>
              <a:gd name="adj" fmla="val 29961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858707" y="4858207"/>
            <a:ext cx="2686507" cy="761695"/>
          </a:xfrm>
          <a:prstGeom prst="roundRect">
            <a:avLst>
              <a:gd name="adj" fmla="val 18007"/>
            </a:avLst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858707" y="4858207"/>
            <a:ext cx="19202" cy="761695"/>
          </a:xfrm>
          <a:prstGeom prst="roundRect">
            <a:avLst>
              <a:gd name="adj" fmla="val 714301"/>
            </a:avLst>
          </a:prstGeom>
          <a:solidFill>
            <a:srgbClr val="FF4D4D"/>
          </a:solidFill>
          <a:ln w="12700">
            <a:solidFill>
              <a:srgbClr val="FF4D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rcRect t="6980" b="6980"/>
          <a:stretch/>
        </p:blipFill>
        <p:spPr>
          <a:xfrm>
            <a:off x="571500" y="381305"/>
            <a:ext cx="571500" cy="333756"/>
          </a:xfrm>
          <a:prstGeom prst="rect">
            <a:avLst/>
          </a:prstGeom>
        </p:spPr>
      </p:pic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rcRect l="4905" r="4905"/>
          <a:stretch/>
        </p:blipFill>
        <p:spPr>
          <a:xfrm>
            <a:off x="10668305" y="381305"/>
            <a:ext cx="952805" cy="333756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71500" y="952805"/>
            <a:ext cx="86868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Governance, reporting, and final recap</a:t>
            </a:r>
            <a:endParaRPr lang="en-US" sz="2400" dirty="0"/>
          </a:p>
        </p:txBody>
      </p:sp>
      <p:sp>
        <p:nvSpPr>
          <p:cNvPr id="27" name="Text 22"/>
          <p:cNvSpPr txBox="1"/>
          <p:nvPr/>
        </p:nvSpPr>
        <p:spPr>
          <a:xfrm>
            <a:off x="571500" y="1524305"/>
            <a:ext cx="19815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2ECC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724205" y="1886407"/>
            <a:ext cx="3067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 Management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857707" y="2085746"/>
            <a:ext cx="293248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Matching rules &amp; warning/block logic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857707" y="2229307"/>
            <a:ext cx="293248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stewardship protection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724205" y="2743200"/>
            <a:ext cx="3067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 Review Flow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857707" y="2943454"/>
            <a:ext cx="293248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potential duplicate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857707" y="3086100"/>
            <a:ext cx="293248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decides merge/match/confirm</a:t>
            </a:r>
            <a:endParaRPr 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724205" y="3600907"/>
            <a:ext cx="3067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&amp; Competition-Safe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857707" y="3800246"/>
            <a:ext cx="293248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NxN users see only NxN data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857707" y="3943807"/>
            <a:ext cx="293248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 exposing restricted details</a:t>
            </a:r>
            <a:endParaRPr lang="en-US" sz="900" dirty="0"/>
          </a:p>
        </p:txBody>
      </p:sp>
      <p:sp>
        <p:nvSpPr>
          <p:cNvPr id="37" name="Text 32"/>
          <p:cNvSpPr txBox="1"/>
          <p:nvPr/>
        </p:nvSpPr>
        <p:spPr>
          <a:xfrm>
            <a:off x="4190695" y="1524305"/>
            <a:ext cx="19815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2ECC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Reporting Outcomes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4476902" y="2095805"/>
            <a:ext cx="208026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Volume</a:t>
            </a:r>
            <a:endParaRPr lang="en-US" sz="900" dirty="0"/>
          </a:p>
        </p:txBody>
      </p:sp>
      <p:sp>
        <p:nvSpPr>
          <p:cNvPr id="39" name="Text 34"/>
          <p:cNvSpPr txBox="1"/>
          <p:nvPr/>
        </p:nvSpPr>
        <p:spPr>
          <a:xfrm>
            <a:off x="4476902" y="2247595"/>
            <a:ext cx="208026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source &amp; trust class</a:t>
            </a:r>
            <a:endParaRPr lang="en-US" sz="800" dirty="0"/>
          </a:p>
        </p:txBody>
      </p:sp>
      <p:sp>
        <p:nvSpPr>
          <p:cNvPr id="40" name="Text 35"/>
          <p:cNvSpPr txBox="1"/>
          <p:nvPr/>
        </p:nvSpPr>
        <p:spPr>
          <a:xfrm>
            <a:off x="6858000" y="2095805"/>
            <a:ext cx="208026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 Rates</a:t>
            </a:r>
            <a:endParaRPr lang="en-US" sz="900" dirty="0"/>
          </a:p>
        </p:txBody>
      </p:sp>
      <p:sp>
        <p:nvSpPr>
          <p:cNvPr id="41" name="Text 36"/>
          <p:cNvSpPr txBox="1"/>
          <p:nvPr/>
        </p:nvSpPr>
        <p:spPr>
          <a:xfrm>
            <a:off x="6858000" y="2247595"/>
            <a:ext cx="208026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progression metrics</a:t>
            </a:r>
            <a:endParaRPr lang="en-US" sz="800" dirty="0"/>
          </a:p>
        </p:txBody>
      </p:sp>
      <p:sp>
        <p:nvSpPr>
          <p:cNvPr id="42" name="Text 37"/>
          <p:cNvSpPr txBox="1"/>
          <p:nvPr/>
        </p:nvSpPr>
        <p:spPr>
          <a:xfrm>
            <a:off x="9239098" y="2095805"/>
            <a:ext cx="208026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Cycle Time</a:t>
            </a:r>
            <a:endParaRPr lang="en-US" sz="900" dirty="0"/>
          </a:p>
        </p:txBody>
      </p:sp>
      <p:sp>
        <p:nvSpPr>
          <p:cNvPr id="43" name="Text 38"/>
          <p:cNvSpPr txBox="1"/>
          <p:nvPr/>
        </p:nvSpPr>
        <p:spPr>
          <a:xfrm>
            <a:off x="9239098" y="2247595"/>
            <a:ext cx="208026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stage and by source</a:t>
            </a:r>
            <a:endParaRPr lang="en-US" sz="800" dirty="0"/>
          </a:p>
        </p:txBody>
      </p:sp>
      <p:sp>
        <p:nvSpPr>
          <p:cNvPr id="44" name="Text 39"/>
          <p:cNvSpPr txBox="1"/>
          <p:nvPr/>
        </p:nvSpPr>
        <p:spPr>
          <a:xfrm>
            <a:off x="4476902" y="2857500"/>
            <a:ext cx="208026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Analysis</a:t>
            </a:r>
            <a:endParaRPr lang="en-US" sz="900" dirty="0"/>
          </a:p>
        </p:txBody>
      </p:sp>
      <p:sp>
        <p:nvSpPr>
          <p:cNvPr id="45" name="Text 40"/>
          <p:cNvSpPr txBox="1"/>
          <p:nvPr/>
        </p:nvSpPr>
        <p:spPr>
          <a:xfrm>
            <a:off x="4476902" y="3010205"/>
            <a:ext cx="208026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Stage, Bucket, Entity, Owner</a:t>
            </a:r>
            <a:endParaRPr lang="en-US" sz="800" dirty="0"/>
          </a:p>
        </p:txBody>
      </p:sp>
      <p:sp>
        <p:nvSpPr>
          <p:cNvPr id="46" name="Text 41"/>
          <p:cNvSpPr txBox="1"/>
          <p:nvPr/>
        </p:nvSpPr>
        <p:spPr>
          <a:xfrm>
            <a:off x="6858000" y="2857500"/>
            <a:ext cx="208026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Quote-to-Win</a:t>
            </a:r>
            <a:endParaRPr lang="en-US" sz="900" dirty="0"/>
          </a:p>
        </p:txBody>
      </p:sp>
      <p:sp>
        <p:nvSpPr>
          <p:cNvPr id="47" name="Text 42"/>
          <p:cNvSpPr txBox="1"/>
          <p:nvPr/>
        </p:nvSpPr>
        <p:spPr>
          <a:xfrm>
            <a:off x="6858000" y="3010205"/>
            <a:ext cx="208026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 turnaround &amp; perf</a:t>
            </a:r>
            <a:endParaRPr lang="en-US" sz="800" dirty="0"/>
          </a:p>
        </p:txBody>
      </p:sp>
      <p:sp>
        <p:nvSpPr>
          <p:cNvPr id="48" name="Text 43"/>
          <p:cNvSpPr txBox="1"/>
          <p:nvPr/>
        </p:nvSpPr>
        <p:spPr>
          <a:xfrm>
            <a:off x="9239098" y="2857500"/>
            <a:ext cx="208026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Win/Loss Analysis</a:t>
            </a:r>
            <a:endParaRPr lang="en-US" sz="900" dirty="0"/>
          </a:p>
        </p:txBody>
      </p:sp>
      <p:sp>
        <p:nvSpPr>
          <p:cNvPr id="49" name="Text 44"/>
          <p:cNvSpPr txBox="1"/>
          <p:nvPr/>
        </p:nvSpPr>
        <p:spPr>
          <a:xfrm>
            <a:off x="9239098" y="3010205"/>
            <a:ext cx="208026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Reasons &amp; competitor data</a:t>
            </a:r>
            <a:endParaRPr lang="en-US" sz="800" dirty="0"/>
          </a:p>
        </p:txBody>
      </p:sp>
      <p:sp>
        <p:nvSpPr>
          <p:cNvPr id="50" name="Text 45"/>
          <p:cNvSpPr txBox="1"/>
          <p:nvPr/>
        </p:nvSpPr>
        <p:spPr>
          <a:xfrm>
            <a:off x="4476902" y="3619195"/>
            <a:ext cx="33055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 Metrics</a:t>
            </a:r>
            <a:endParaRPr lang="en-US" sz="900" dirty="0"/>
          </a:p>
        </p:txBody>
      </p:sp>
      <p:sp>
        <p:nvSpPr>
          <p:cNvPr id="51" name="Text 46"/>
          <p:cNvSpPr txBox="1"/>
          <p:nvPr/>
        </p:nvSpPr>
        <p:spPr>
          <a:xfrm>
            <a:off x="4476902" y="3771900"/>
            <a:ext cx="330555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Cycle time, turnaround, active coverage</a:t>
            </a:r>
            <a:endParaRPr lang="en-US" sz="800" dirty="0"/>
          </a:p>
        </p:txBody>
      </p:sp>
      <p:sp>
        <p:nvSpPr>
          <p:cNvPr id="52" name="Text 47"/>
          <p:cNvSpPr txBox="1"/>
          <p:nvPr/>
        </p:nvSpPr>
        <p:spPr>
          <a:xfrm>
            <a:off x="8048549" y="3619195"/>
            <a:ext cx="33055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Lifecycle</a:t>
            </a:r>
            <a:endParaRPr lang="en-US" sz="900" dirty="0"/>
          </a:p>
        </p:txBody>
      </p:sp>
      <p:sp>
        <p:nvSpPr>
          <p:cNvPr id="53" name="Text 48"/>
          <p:cNvSpPr txBox="1"/>
          <p:nvPr/>
        </p:nvSpPr>
        <p:spPr>
          <a:xfrm>
            <a:off x="8048549" y="3771900"/>
            <a:ext cx="330555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vs Dormant, acquisition, retention</a:t>
            </a:r>
            <a:endParaRPr lang="en-US" sz="800" dirty="0"/>
          </a:p>
        </p:txBody>
      </p:sp>
      <p:sp>
        <p:nvSpPr>
          <p:cNvPr id="54" name="Text 49"/>
          <p:cNvSpPr txBox="1"/>
          <p:nvPr/>
        </p:nvSpPr>
        <p:spPr>
          <a:xfrm>
            <a:off x="571500" y="4476902"/>
            <a:ext cx="2971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2ECC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Full-Cycle Simulation Recap</a:t>
            </a:r>
            <a:endParaRPr lang="en-US" sz="1000" dirty="0"/>
          </a:p>
        </p:txBody>
      </p:sp>
      <p:sp>
        <p:nvSpPr>
          <p:cNvPr id="55" name="Text 50"/>
          <p:cNvSpPr txBox="1"/>
          <p:nvPr/>
        </p:nvSpPr>
        <p:spPr>
          <a:xfrm>
            <a:off x="666598" y="4858207"/>
            <a:ext cx="817290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1. Lead → 2. Verification → 3. Qualification → 4. Conversion → 5. Account &amp; Contact → 6. Opportunity →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7. Stage Gates → 8. Quote → 9. Contracting → 10. Signed/Accepted → 11. Closed Won → 12. Active Customer </a:t>
            </a:r>
            <a:endParaRPr lang="en-US" sz="900" dirty="0"/>
          </a:p>
        </p:txBody>
      </p:sp>
      <p:sp>
        <p:nvSpPr>
          <p:cNvPr id="56" name="Text 51"/>
          <p:cNvSpPr txBox="1"/>
          <p:nvPr/>
        </p:nvSpPr>
        <p:spPr>
          <a:xfrm>
            <a:off x="8953805" y="4953305"/>
            <a:ext cx="257586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Wrong Way To Avoid:</a:t>
            </a:r>
            <a:endParaRPr lang="en-US" sz="800" dirty="0"/>
          </a:p>
        </p:txBody>
      </p:sp>
      <p:sp>
        <p:nvSpPr>
          <p:cNvPr id="57" name="Text 52"/>
          <p:cNvSpPr txBox="1"/>
          <p:nvPr/>
        </p:nvSpPr>
        <p:spPr>
          <a:xfrm>
            <a:off x="8953805" y="5086807"/>
            <a:ext cx="2553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Qualifying early, missing reasons, Quote=Contract, selling on Parent, skipping gates.</a:t>
            </a:r>
            <a:endParaRPr lang="en-US" sz="800" dirty="0"/>
          </a:p>
        </p:txBody>
      </p:sp>
      <p:sp>
        <p:nvSpPr>
          <p:cNvPr id="58" name="Text 53"/>
          <p:cNvSpPr txBox="1"/>
          <p:nvPr/>
        </p:nvSpPr>
        <p:spPr>
          <a:xfrm>
            <a:off x="609905" y="6019495"/>
            <a:ext cx="109728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 Lead | Qualify with evidence | Convert correctly | Sell on Entity Child | One Opp per Bucket | Quote ≠ Contract | Keep data clean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869</Words>
  <Application>Microsoft Office PowerPoint</Application>
  <PresentationFormat>Widescreen</PresentationFormat>
  <Paragraphs>228</Paragraphs>
  <Slides>11</Slides>
  <Notes>8</Notes>
  <HiddenSlides>0</HiddenSlides>
  <MMClips>3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Fuad Alnsour</cp:lastModifiedBy>
  <cp:revision>7</cp:revision>
  <dcterms:created xsi:type="dcterms:W3CDTF">2026-04-14T09:36:20Z</dcterms:created>
  <dcterms:modified xsi:type="dcterms:W3CDTF">2026-04-21T06:11:57Z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e233402-f815-4884-9dcd-539894132b48_Enabled">
    <vt:lpwstr>true</vt:lpwstr>
  </property>
  <property fmtid="{D5CDD505-2E9C-101B-9397-08002B2CF9AE}" pid="3" name="MSIP_Label_8e233402-f815-4884-9dcd-539894132b48_SetDate">
    <vt:lpwstr>2026-04-21T06:02:25Z</vt:lpwstr>
  </property>
  <property fmtid="{D5CDD505-2E9C-101B-9397-08002B2CF9AE}" pid="4" name="MSIP_Label_8e233402-f815-4884-9dcd-539894132b48_Method">
    <vt:lpwstr>Privileged</vt:lpwstr>
  </property>
  <property fmtid="{D5CDD505-2E9C-101B-9397-08002B2CF9AE}" pid="5" name="MSIP_Label_8e233402-f815-4884-9dcd-539894132b48_Name">
    <vt:lpwstr>General</vt:lpwstr>
  </property>
  <property fmtid="{D5CDD505-2E9C-101B-9397-08002B2CF9AE}" pid="6" name="MSIP_Label_8e233402-f815-4884-9dcd-539894132b48_SiteId">
    <vt:lpwstr>c83314fa-75af-4236-8242-8305919cb91f</vt:lpwstr>
  </property>
  <property fmtid="{D5CDD505-2E9C-101B-9397-08002B2CF9AE}" pid="7" name="MSIP_Label_8e233402-f815-4884-9dcd-539894132b48_ActionId">
    <vt:lpwstr>c27c1163-9b88-4b65-b793-f06e4de052f6</vt:lpwstr>
  </property>
  <property fmtid="{D5CDD505-2E9C-101B-9397-08002B2CF9AE}" pid="8" name="MSIP_Label_8e233402-f815-4884-9dcd-539894132b48_ContentBits">
    <vt:lpwstr>1</vt:lpwstr>
  </property>
  <property fmtid="{D5CDD505-2E9C-101B-9397-08002B2CF9AE}" pid="9" name="MSIP_Label_8e233402-f815-4884-9dcd-539894132b48_Tag">
    <vt:lpwstr>10, 0, 1, 1</vt:lpwstr>
  </property>
  <property fmtid="{D5CDD505-2E9C-101B-9397-08002B2CF9AE}" pid="10" name="ClassificationContentMarkingHeaderLocations">
    <vt:lpwstr>Office Theme:3</vt:lpwstr>
  </property>
  <property fmtid="{D5CDD505-2E9C-101B-9397-08002B2CF9AE}" pid="11" name="ClassificationContentMarkingHeaderText">
    <vt:lpwstr>Restricted</vt:lpwstr>
  </property>
</Properties>
</file>